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chào Thầy Hà Minh Tân cùng toàn thể hội đồng. Nhóm G11 xin trình bày đồ án phân tích dữ liệu lớn về kiến trúc nhận diện khuôn mặt đa camera quy mô lớn kết hợp ArcFace và chỉ mục FAISS.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Phân tích giá trị thực tiễn: Tận dụng hạ tầng camera IP thông thường thay vì mua AI camera đắt đỏ. Hệ thống chỉ xử lý các khung hình đạt chuẩn nhờ bộ lọc mờ.</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Phân tích điểm nghẽn cổ chai tính toán: Quét cạn O(N*D) khiến độ trễ tăng vọt khi đạt triệu người. Cần kỹ thuật nén lượng tử hóa và tìm kiếm xấp xỉ.</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và phạm vi đề tài: Hoàn thành trọn vẹn cả 4 tầng kiến trúc và kiểm chứng qua 5 kịch bản thực nghiệm định lượng.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Phân tích 5Vs của Dữ liệu lớn: Bài toán thỏa mãn đầy đủ Volume, Velocity, Variety, Veracity và mang lại Value thực tế cao.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Lịch sử tiến hóa từ DeepFace, FaceNet đến ArcFace: ArcFace vượt trội nhờ cơ chế biên góc cộng tính trên mặt siêu cầu đơn vị.</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Tổng quan các thuật toán ANN: KD-tree bất lực ở số chiều cao. IVF, PQ và HNSW là giải pháp hàng đầu trong xử lý Big Data vector.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Tổng quan công nghệ luồng và Data Lake: Kafka đệm dữ liệu, Spark xử lý trạng thái và Parquet lưu trữ cột phục vụ phân tích.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trống nghiên cứu: Kết hợp toàn diện giữa mô hình ArcFace với kỹ thuật lượng tử hóa tích và pipeline phân tán Spark.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Trình bày sơ đồ kiến trúc 4 tầng: Tầng 1 thu nhận RTSP; Tầng 2 trích xuất ArcFace; Tầng 3 chỉ mục FAISS; Tầng 4 xử lý luồng Kafka, Spark và Parquet.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Tầng 1 giải thích chi tiết phương sai toán tử Laplacian và cơ chế bỏ khung hình chủ động giúp hệ thống luôn mượt mà ở 30 FPS.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Tầng 2 giải thích RetinaFace và thuật toán căn chỉnh Affine 5 điểm mốc, đảm bảo vector khuôn mặt bất biến trước các góc nghiêng đầu.</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Phân tích công thức ArcFace: Chuẩn hóa L2 đưa đặc trưng lên siêu cầu, biên góc m=0.5 giúp phân biệt danh tính cực kỳ chính xác.</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Điểm cốt lõi toán học: Chứng minh khoảng cách Euclid bình phương tỷ lệ nghịch tuyến tính với Cosine Similarity, cho phép tận dụng trọn vẹn chỉ mục L2.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Giải thích IVF-PQ: IVF lọc cụm Voronoi, PQ nén 512 số thực thành 64 bytes, tiết kiệm 96% RAM và tìm kiếm siêu nhanh.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Cấu trúc đồ thị HNSW: Tìm kiếm tham lam đa tầng cho Recall@1 cao nhất nhưng tiêu tốn RAM nhiều hơn IVF-PQ.</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Tầng 4 xử lý luồng: Spark micro-batch 1s, watermark 10m và khử trùng lặp khuôn mặt trong 5 giây trước khi ghi vào Data Lake.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Trình bày môi trường thực nghiệm và 3 bộ dữ liệu: Dataset A đo TAR/FAR; Dataset B triệu vector đo FAISS; Dataset C đo Spark &amp; Parquet.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bước tiền xử lý chuẩn mực: Lọc mờ, căn chỉnh Affine, chuẩn hóa vector L2 và định kiểu dữ liệu Spark Schema.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Phân tích Kịch bản 1: Lựa chọn ngưỡng Cosine 0.50 đạt cân bằng tối ưu giữa TAR 92.5% và FAR cực thấp 0.02%.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Phân tích Kịch bản 2: Khi cơ sở dữ liệu đạt 1 triệu người, IVFPQ và HNSW giữ độ trễ dưới 0.5ms, nhanh hơn 100 lần so với quét cạn.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Điểm nhấn Kịch bản 2: IVFPQ nén 96.3% RAM, chỉ tốn 76MB cho 1 triệu người so với hơn 2GB của phương pháp thường.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Phân tích Kịch bản 3: Đường cong Pareto xác định nprobe từ 16 đến 32 là điểm tối ưu tuyệt đối, đạt Recall@10 &gt; 98.5% và Latency &lt; 0.45ms.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Phân tích Kịch bản 4: Spark Structured Streaming xử lý mượt mà tới 500 camera đồng thời với độ trễ P95 dưới 3.5 giây.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Phân tích Kịch bản 5: Parquet nén hơn 80% đĩa, truy vấn nhanh gấp gần 8 lần. Ứng dụng truy vết hành trình và phát hiện nhảy cóc bất thường.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Tổng kết 4 đóng góp chính: Phương pháp toán học trên siêu cầu, kỹ thuật nén RAM 96%, kiến trúc tận dụng RTSP và pipeline luồng Spark.</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Thẳng thắn nhìn nhận hạn chế về liveness và mở rộng phân tán. Hướng phát triển: Tích hợp Anti-spoofing và chuyển đổi sang cụm Milvus/Qdrant trên K8s.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Nhóm xin chân thành cảm ơn Thầy Hà Minh Tân đã tận tình hướng dẫn. Nhóm xin trân trọng cảm ơn Hội đồng và sẵn sàng bước vào phần trả lời câu hỏi.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1097280"/>
            <a:ext cx="10362895" cy="4114800"/>
          </a:xfrm>
          <a:prstGeom prst="rect">
            <a:avLst/>
          </a:prstGeom>
          <a:noFill/>
        </p:spPr>
        <p:txBody>
          <a:bodyPr wrap="square">
            <a:spAutoFit/>
          </a:bodyPr>
          <a:lstStyle/>
          <a:p>
            <a:pPr>
              <a:spcAft>
                <a:spcPts val="2000"/>
              </a:spcAft>
              <a:defRPr sz="1300" b="1">
                <a:solidFill>
                  <a:srgbClr val="F97316"/>
                </a:solidFill>
              </a:defRPr>
            </a:pPr>
            <a:r>
              <a:t>TRƯỜNG ĐẠI HỌC CÔNG NGHỆ THÔNG TIN - ĐHQG-HCM</a:t>
            </a:r>
            <a:br/>
            <a:r>
              <a:t>KHOA CÔNG NGHỆ THÔNG TIN / KHOA HỌC DỮ LIỆU</a:t>
            </a:r>
          </a:p>
          <a:p>
            <a:pPr>
              <a:spcAft>
                <a:spcPts val="1500"/>
              </a:spcAft>
              <a:defRPr sz="1600">
                <a:solidFill>
                  <a:srgbClr val="FFFFFF"/>
                </a:solidFill>
              </a:defRPr>
            </a:pPr>
            <a:r>
              <a:t>BÁO CÁO ĐỒ ÁN MÔN HỌC: PHÂN TÍCH DỮ LIỆU LỚN</a:t>
            </a:r>
          </a:p>
          <a:p>
            <a:pPr>
              <a:spcAft>
                <a:spcPts val="3000"/>
              </a:spcAft>
              <a:defRPr sz="2200" b="1">
                <a:solidFill>
                  <a:srgbClr val="FFFFFF"/>
                </a:solidFill>
              </a:defRPr>
            </a:pPr>
            <a:r>
              <a:t>KIẾN TRÚC LAI KẾT HỢP MÔ HÌNH ĐẶC TRƯNG SÂU ARCFACE VÀ CHỈ MỤC LƯỢNG TỬ HÓA VECTOR PHÂN TÁN (IVF-PQ/HNSW) CHO BÀI TOÁN NHẬN DIỆN KHUÔN MẶT ĐA CAMERA THỜI GIAN THỰC</a:t>
            </a:r>
          </a:p>
          <a:p>
            <a:pPr>
              <a:defRPr sz="1300">
                <a:solidFill>
                  <a:srgbClr val="CBD5E1"/>
                </a:solidFill>
              </a:defRPr>
            </a:pPr>
            <a:r>
              <a:t>Giảng viên hướng dẫn: ThS. Hà Minh Tân</a:t>
            </a:r>
            <a:br/>
            <a:r>
              <a:t>Nhóm sinh viên thực hiện: Nhóm G11 (Khoa CNTT - ĐHQG-HCM)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E7490"/>
                </a:solidFill>
              </a:defRPr>
            </a:pPr>
            <a:r>
              <a:t>ĐỒ ÁN PHÂN TÍCH DỮ LIỆU LỚN - NHẬN DIỆN KHUÔN MẶT ĐA CAMERA</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defRPr>
            </a:pPr>
            <a:r>
              <a:t>Động lực Thực tiễn: Tận dụng Hạ tầng Camera IP Sẵn có</a:t>
            </a:r>
          </a:p>
        </p:txBody>
      </p:sp>
      <p:sp>
        <p:nvSpPr>
          <p:cNvPr id="4" name="Rounded Rectangle 3"/>
          <p:cNvSpPr/>
          <p:nvPr/>
        </p:nvSpPr>
        <p:spPr>
          <a:xfrm>
            <a:off x="7315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E7490"/>
                </a:solidFill>
              </a:defRPr>
            </a:pPr>
            <a:r>
              <a:t>Thực trạng Đầu tư Hạ tầng Camera</a:t>
            </a:r>
          </a:p>
          <a:p>
            <a:pPr>
              <a:spcAft>
                <a:spcPts val="500"/>
              </a:spcAft>
              <a:defRPr sz="1100">
                <a:solidFill>
                  <a:srgbClr val="1E293B"/>
                </a:solidFill>
              </a:defRPr>
            </a:pPr>
            <a:r>
              <a:t>•  Hàng nghìn camera IP thông thường (chuẩn RTSP H.264) đã lắp đặt tại các tòa nhà, trường học, nhà máy.</a:t>
            </a:r>
          </a:p>
          <a:p>
            <a:pPr>
              <a:spcAft>
                <a:spcPts val="500"/>
              </a:spcAft>
              <a:defRPr sz="1100">
                <a:solidFill>
                  <a:srgbClr val="1E293B"/>
                </a:solidFill>
              </a:defRPr>
            </a:pPr>
            <a:r>
              <a:t>•  Chi phí thay mới bằng AI Camera chuyên dụng cực kỳ tốn kém ($500 – $2.000 / camera).</a:t>
            </a:r>
          </a:p>
          <a:p>
            <a:pPr>
              <a:spcAft>
                <a:spcPts val="500"/>
              </a:spcAft>
              <a:defRPr sz="1100">
                <a:solidFill>
                  <a:srgbClr val="1E293B"/>
                </a:solidFill>
              </a:defRPr>
            </a:pPr>
            <a:r>
              <a:t>•  Băng thông mạng và lưu trữ bị chiếm dụng lớn nếu truyền toàn bộ video thô về server xử lý.</a:t>
            </a:r>
          </a:p>
          <a:p>
            <a:pPr>
              <a:spcAft>
                <a:spcPts val="500"/>
              </a:spcAft>
              <a:defRPr sz="1100">
                <a:solidFill>
                  <a:srgbClr val="1E293B"/>
                </a:solidFill>
              </a:defRPr>
            </a:pPr>
            <a:r>
              <a:t>•  Nhu cầu cấp bách: Tận dụng luồng RTSP hiện hữu với thuật toán AI &amp; Big Data tập trung.</a:t>
            </a:r>
          </a:p>
        </p:txBody>
      </p:sp>
      <p:sp>
        <p:nvSpPr>
          <p:cNvPr id="5" name="Rounded Rectangle 4"/>
          <p:cNvSpPr/>
          <p:nvPr/>
        </p:nvSpPr>
        <p:spPr>
          <a:xfrm>
            <a:off x="62179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E7490"/>
                </a:solidFill>
              </a:defRPr>
            </a:pPr>
            <a:r>
              <a:t>Mục tiêu Giá trị Thực tiễn Mang lại</a:t>
            </a:r>
          </a:p>
          <a:p>
            <a:pPr>
              <a:spcAft>
                <a:spcPts val="500"/>
              </a:spcAft>
              <a:defRPr sz="1100">
                <a:solidFill>
                  <a:srgbClr val="1E293B"/>
                </a:solidFill>
              </a:defRPr>
            </a:pPr>
            <a:r>
              <a:t>•  Biến mọi Camera IP chuẩn RTSP thành mắt thần an ninh thông minh mà không cần đổi phần cứng.</a:t>
            </a:r>
          </a:p>
          <a:p>
            <a:pPr>
              <a:spcAft>
                <a:spcPts val="500"/>
              </a:spcAft>
              <a:defRPr sz="1100">
                <a:solidFill>
                  <a:srgbClr val="1E293B"/>
                </a:solidFill>
              </a:defRPr>
            </a:pPr>
            <a:r>
              <a:t>•  Cơ chế lọc khung hình mờ (Laplacian variance) loại bỏ 60% dữ liệu suy biến ngay tại biên.</a:t>
            </a:r>
          </a:p>
          <a:p>
            <a:pPr>
              <a:spcAft>
                <a:spcPts val="500"/>
              </a:spcAft>
              <a:defRPr sz="1100">
                <a:solidFill>
                  <a:srgbClr val="1E293B"/>
                </a:solidFill>
              </a:defRPr>
            </a:pPr>
            <a:r>
              <a:t>•  Đảm bảo khả năng phục vụ liên tục 24/7 với chi phí vận hành hạ tầng tối thiểu.</a:t>
            </a:r>
          </a:p>
          <a:p>
            <a:pPr>
              <a:spcAft>
                <a:spcPts val="500"/>
              </a:spcAft>
              <a:defRPr sz="1100">
                <a:solidFill>
                  <a:srgbClr val="1E293B"/>
                </a:solidFill>
              </a:defRPr>
            </a:pPr>
            <a:r>
              <a:t>•  Khả năng mở rộng linh hoạt: Thêm camera mới chỉ cần khai báo URL luồng RTSP.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E7490"/>
                </a:solidFill>
              </a:defRPr>
            </a:pPr>
            <a:r>
              <a:t>ĐỒ ÁN PHÂN TÍCH DỮ LIỆU LỚN - NHẬN DIỆN KHUÔN MẶT ĐA CAMERA</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defRPr>
            </a:pPr>
            <a:r>
              <a:t>Điểm nghẽn Cổ chai khi Mở rộng Quy mô (Scalability Bottleneck)</a:t>
            </a:r>
          </a:p>
        </p:txBody>
      </p:sp>
      <p:sp>
        <p:nvSpPr>
          <p:cNvPr id="4" name="Rounded Rectangle 3"/>
          <p:cNvSpPr/>
          <p:nvPr/>
        </p:nvSpPr>
        <p:spPr>
          <a:xfrm>
            <a:off x="7315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E7490"/>
                </a:solidFill>
              </a:defRPr>
            </a:pPr>
            <a:r>
              <a:t>Khi Dữ liệu Tăng trưởng lên Triệu Thực thể</a:t>
            </a:r>
          </a:p>
          <a:p>
            <a:pPr>
              <a:spcAft>
                <a:spcPts val="500"/>
              </a:spcAft>
              <a:defRPr sz="1100">
                <a:solidFill>
                  <a:srgbClr val="1E293B"/>
                </a:solidFill>
              </a:defRPr>
            </a:pPr>
            <a:r>
              <a:t>•  Mỗi khuôn mặt tương ứng 1 vector đặc trưng 512 chiều float32 (2.048 bytes).</a:t>
            </a:r>
          </a:p>
          <a:p>
            <a:pPr>
              <a:spcAft>
                <a:spcPts val="500"/>
              </a:spcAft>
              <a:defRPr sz="1100">
                <a:solidFill>
                  <a:srgbClr val="1E293B"/>
                </a:solidFill>
              </a:defRPr>
            </a:pPr>
            <a:r>
              <a:t>•  Quy mô cơ sở dữ liệu: 1.000.000 người tiêu tốn hơn 2 GB RAM chỉ để chứa dữ liệu vector thô.</a:t>
            </a:r>
          </a:p>
          <a:p>
            <a:pPr>
              <a:spcAft>
                <a:spcPts val="500"/>
              </a:spcAft>
              <a:defRPr sz="1100">
                <a:solidFill>
                  <a:srgbClr val="1E293B"/>
                </a:solidFill>
              </a:defRPr>
            </a:pPr>
            <a:r>
              <a:t>•  Độ phức tạp quét cạn (Brute-Force Flat Search): O(N * D) cho mỗi khuôn mặt xuất hiện.</a:t>
            </a:r>
          </a:p>
          <a:p>
            <a:pPr>
              <a:spcAft>
                <a:spcPts val="500"/>
              </a:spcAft>
              <a:defRPr sz="1100">
                <a:solidFill>
                  <a:srgbClr val="1E293B"/>
                </a:solidFill>
              </a:defRPr>
            </a:pPr>
            <a:r>
              <a:t>•  Tại N = 1.000.000, độ trễ tìm kiếm vọt lên 40 - 100 ms/khuôn mặt, hệ thống sụp đổ.</a:t>
            </a:r>
          </a:p>
        </p:txBody>
      </p:sp>
      <p:sp>
        <p:nvSpPr>
          <p:cNvPr id="5" name="Rounded Rectangle 4"/>
          <p:cNvSpPr/>
          <p:nvPr/>
        </p:nvSpPr>
        <p:spPr>
          <a:xfrm>
            <a:off x="62179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E7490"/>
                </a:solidFill>
              </a:defRPr>
            </a:pPr>
            <a:r>
              <a:t>Yêu cầu Đặt ra cho Hệ thống Lớn</a:t>
            </a:r>
          </a:p>
          <a:p>
            <a:pPr>
              <a:spcAft>
                <a:spcPts val="500"/>
              </a:spcAft>
              <a:defRPr sz="1100">
                <a:solidFill>
                  <a:srgbClr val="1E293B"/>
                </a:solidFill>
              </a:defRPr>
            </a:pPr>
            <a:r>
              <a:t>•  Giảm dung lượng RAM ít nhất 10 - 30 lần để máy chủ phổ thông có thể chịu tải hàng triệu người.</a:t>
            </a:r>
          </a:p>
          <a:p>
            <a:pPr>
              <a:spcAft>
                <a:spcPts val="500"/>
              </a:spcAft>
              <a:defRPr sz="1100">
                <a:solidFill>
                  <a:srgbClr val="1E293B"/>
                </a:solidFill>
              </a:defRPr>
            </a:pPr>
            <a:r>
              <a:t>•  Duy trì độ trễ đối sánh dưới 1 ms/khuôn mặt để phục vụ luồng RTSP 30 FPS thời gian thực.</a:t>
            </a:r>
          </a:p>
          <a:p>
            <a:pPr>
              <a:spcAft>
                <a:spcPts val="500"/>
              </a:spcAft>
              <a:defRPr sz="1100">
                <a:solidFill>
                  <a:srgbClr val="1E293B"/>
                </a:solidFill>
              </a:defRPr>
            </a:pPr>
            <a:r>
              <a:t>•  Đảm bảo độ chính xác Recall@1 không bị suy giảm đáng kể so với phương pháp vét cạn.</a:t>
            </a:r>
          </a:p>
          <a:p>
            <a:pPr>
              <a:spcAft>
                <a:spcPts val="500"/>
              </a:spcAft>
              <a:defRPr sz="1100">
                <a:solidFill>
                  <a:srgbClr val="1E293B"/>
                </a:solidFill>
              </a:defRPr>
            </a:pPr>
            <a:r>
              <a:t>•  Không cần huấn luyện lại mạng nơ-ron (Zero-Retraining) khi thêm danh tính mới vào kho dữ liệu.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E7490"/>
                </a:solidFill>
              </a:defRPr>
            </a:pPr>
            <a:r>
              <a:t>ĐỒ ÁN PHÂN TÍCH DỮ LIỆU LỚN - NHẬN DIỆN KHUÔN MẶT ĐA CAMERA</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defRPr>
            </a:pPr>
            <a:r>
              <a:t>Mục tiêu Nghiên cứu và Phạm vi Đề tài</a:t>
            </a:r>
          </a:p>
        </p:txBody>
      </p:sp>
      <p:sp>
        <p:nvSpPr>
          <p:cNvPr id="4" name="Rounded Rectangle 3"/>
          <p:cNvSpPr/>
          <p:nvPr/>
        </p:nvSpPr>
        <p:spPr>
          <a:xfrm>
            <a:off x="7315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E7490"/>
                </a:solidFill>
              </a:defRPr>
            </a:pPr>
            <a:r>
              <a:t>Mục tiêu Cụ thể của Đề tài</a:t>
            </a:r>
          </a:p>
          <a:p>
            <a:pPr>
              <a:spcAft>
                <a:spcPts val="500"/>
              </a:spcAft>
              <a:defRPr sz="1100">
                <a:solidFill>
                  <a:srgbClr val="1E293B"/>
                </a:solidFill>
              </a:defRPr>
            </a:pPr>
            <a:r>
              <a:t>•  Xây dựng Kiến trúc Lai 4 tầng kết hợp AI và Big Data Pipeline hoàn chỉnh.</a:t>
            </a:r>
          </a:p>
          <a:p>
            <a:pPr>
              <a:spcAft>
                <a:spcPts val="500"/>
              </a:spcAft>
              <a:defRPr sz="1100">
                <a:solidFill>
                  <a:srgbClr val="1E293B"/>
                </a:solidFill>
              </a:defRPr>
            </a:pPr>
            <a:r>
              <a:t>•  Nghiên cứu cơ sở toán học trên mặt siêu cầu đơn vị và chứng minh tương đương Cosine - Euclid.</a:t>
            </a:r>
          </a:p>
          <a:p>
            <a:pPr>
              <a:spcAft>
                <a:spcPts val="500"/>
              </a:spcAft>
              <a:defRPr sz="1100">
                <a:solidFill>
                  <a:srgbClr val="1E293B"/>
                </a:solidFill>
              </a:defRPr>
            </a:pPr>
            <a:r>
              <a:t>•  Ứng dụng Inverted File (IVF) và Product Quantization (PQ) trên FAISS nén RAM 32 lần.</a:t>
            </a:r>
          </a:p>
          <a:p>
            <a:pPr>
              <a:spcAft>
                <a:spcPts val="500"/>
              </a:spcAft>
              <a:defRPr sz="1100">
                <a:solidFill>
                  <a:srgbClr val="1E293B"/>
                </a:solidFill>
              </a:defRPr>
            </a:pPr>
            <a:r>
              <a:t>•  Thiết lập pipeline Apache Kafka + Spark Structured Streaming chịu tải 10 - 500 camera.</a:t>
            </a:r>
          </a:p>
        </p:txBody>
      </p:sp>
      <p:sp>
        <p:nvSpPr>
          <p:cNvPr id="5" name="Rounded Rectangle 4"/>
          <p:cNvSpPr/>
          <p:nvPr/>
        </p:nvSpPr>
        <p:spPr>
          <a:xfrm>
            <a:off x="62179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E7490"/>
                </a:solidFill>
              </a:defRPr>
            </a:pPr>
            <a:r>
              <a:t>Phạm vi Thực nghiệm và Đóng gói</a:t>
            </a:r>
          </a:p>
          <a:p>
            <a:pPr>
              <a:spcAft>
                <a:spcPts val="500"/>
              </a:spcAft>
              <a:defRPr sz="1100">
                <a:solidFill>
                  <a:srgbClr val="1E293B"/>
                </a:solidFill>
              </a:defRPr>
            </a:pPr>
            <a:r>
              <a:t>•  Thực nghiệm định lượng trên 3 tập dữ liệu: Khuôn mặt đa góc, 1M Vector 512D, 5M log sự kiện.</a:t>
            </a:r>
          </a:p>
          <a:p>
            <a:pPr>
              <a:spcAft>
                <a:spcPts val="500"/>
              </a:spcAft>
              <a:defRPr sz="1100">
                <a:solidFill>
                  <a:srgbClr val="1E293B"/>
                </a:solidFill>
              </a:defRPr>
            </a:pPr>
            <a:r>
              <a:t>•  Đo đạc 5 kịch bản thực nghiệm chuyên sâu: TAR/FAR, Scalability, Pareto, Spark, Parquet.</a:t>
            </a:r>
          </a:p>
          <a:p>
            <a:pPr>
              <a:spcAft>
                <a:spcPts val="500"/>
              </a:spcAft>
              <a:defRPr sz="1100">
                <a:solidFill>
                  <a:srgbClr val="1E293B"/>
                </a:solidFill>
              </a:defRPr>
            </a:pPr>
            <a:r>
              <a:t>•  Bàn giao trọn gói: Quyển Báo cáo Word &gt; 40 trang, Slide 28 trang, Code sạch và Demo RTSP.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E7490"/>
                </a:solidFill>
              </a:defRPr>
            </a:pPr>
            <a:r>
              <a:t>ĐỒ ÁN PHÂN TÍCH DỮ LIỆU LỚN - NHẬN DIỆN KHUÔN MẶT ĐA CAMERA</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defRPr>
            </a:pPr>
            <a:r>
              <a:t>Bài toán dưới Lăng kính Dữ liệu lớn (Mô hình 5Vs)</a:t>
            </a:r>
          </a:p>
        </p:txBody>
      </p:sp>
      <p:sp>
        <p:nvSpPr>
          <p:cNvPr id="4" name="Rounded Rectangle 3"/>
          <p:cNvSpPr/>
          <p:nvPr/>
        </p:nvSpPr>
        <p:spPr>
          <a:xfrm>
            <a:off x="731520" y="1645920"/>
            <a:ext cx="32918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E7490"/>
                </a:solidFill>
              </a:defRPr>
            </a:pPr>
            <a:r>
              <a:t>Volume &amp; Velocity</a:t>
            </a:r>
          </a:p>
          <a:p>
            <a:pPr>
              <a:spcAft>
                <a:spcPts val="500"/>
              </a:spcAft>
              <a:defRPr sz="1100">
                <a:solidFill>
                  <a:srgbClr val="1E293B"/>
                </a:solidFill>
              </a:defRPr>
            </a:pPr>
            <a:r>
              <a:t>•  Volume: Hàng triệu vector 512-D, hàng chục GB sự kiện giám sát mỗi ngày.</a:t>
            </a:r>
          </a:p>
          <a:p>
            <a:pPr>
              <a:spcAft>
                <a:spcPts val="500"/>
              </a:spcAft>
              <a:defRPr sz="1100">
                <a:solidFill>
                  <a:srgbClr val="1E293B"/>
                </a:solidFill>
              </a:defRPr>
            </a:pPr>
            <a:r>
              <a:t>•  Velocity: Hàng trăm luồng video RTSP 25-30 FPS; hàng nghìn sự kiện/giây đổ về Kafka.</a:t>
            </a:r>
          </a:p>
          <a:p>
            <a:pPr>
              <a:spcAft>
                <a:spcPts val="500"/>
              </a:spcAft>
              <a:defRPr sz="1100">
                <a:solidFill>
                  <a:srgbClr val="1E293B"/>
                </a:solidFill>
              </a:defRPr>
            </a:pPr>
            <a:r>
              <a:t>•  Đòi hỏi kiến trúc xử lý phân tán và nén dữ liệu cột tối ưu.</a:t>
            </a:r>
          </a:p>
        </p:txBody>
      </p:sp>
      <p:sp>
        <p:nvSpPr>
          <p:cNvPr id="5" name="Rounded Rectangle 4"/>
          <p:cNvSpPr/>
          <p:nvPr/>
        </p:nvSpPr>
        <p:spPr>
          <a:xfrm>
            <a:off x="4389120" y="1645920"/>
            <a:ext cx="32918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E7490"/>
                </a:solidFill>
              </a:defRPr>
            </a:pPr>
            <a:r>
              <a:t>Variety &amp; Veracity</a:t>
            </a:r>
          </a:p>
          <a:p>
            <a:pPr>
              <a:spcAft>
                <a:spcPts val="500"/>
              </a:spcAft>
              <a:defRPr sz="1100">
                <a:solidFill>
                  <a:srgbClr val="1E293B"/>
                </a:solidFill>
              </a:defRPr>
            </a:pPr>
            <a:r>
              <a:t>•  Variety: Đa dạng định dạng từ luồng video H.264/RTSP, JSON event log, đến Apache Parquet.</a:t>
            </a:r>
          </a:p>
          <a:p>
            <a:pPr>
              <a:spcAft>
                <a:spcPts val="500"/>
              </a:spcAft>
              <a:defRPr sz="1100">
                <a:solidFill>
                  <a:srgbClr val="1E293B"/>
                </a:solidFill>
              </a:defRPr>
            </a:pPr>
            <a:r>
              <a:t>•  Veracity: Độ tin cậy ảnh bị ảnh hưởng bởi mờ chuyển động, góc nghiêng, ánh sáng ngược.</a:t>
            </a:r>
          </a:p>
          <a:p>
            <a:pPr>
              <a:spcAft>
                <a:spcPts val="500"/>
              </a:spcAft>
              <a:defRPr sz="1100">
                <a:solidFill>
                  <a:srgbClr val="1E293B"/>
                </a:solidFill>
              </a:defRPr>
            </a:pPr>
            <a:r>
              <a:t>•  Giải quyết bằng bộ lọc Laplacian và căn chỉnh Affine 5 điểm mốc.</a:t>
            </a:r>
          </a:p>
        </p:txBody>
      </p:sp>
      <p:sp>
        <p:nvSpPr>
          <p:cNvPr id="6" name="Rounded Rectangle 5"/>
          <p:cNvSpPr/>
          <p:nvPr/>
        </p:nvSpPr>
        <p:spPr>
          <a:xfrm>
            <a:off x="8046720" y="1645920"/>
            <a:ext cx="32918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E7490"/>
                </a:solidFill>
              </a:defRPr>
            </a:pPr>
            <a:r>
              <a:t>Value (Giá trị mang lại)</a:t>
            </a:r>
          </a:p>
          <a:p>
            <a:pPr>
              <a:spcAft>
                <a:spcPts val="500"/>
              </a:spcAft>
              <a:defRPr sz="1100">
                <a:solidFill>
                  <a:srgbClr val="1E293B"/>
                </a:solidFill>
              </a:defRPr>
            </a:pPr>
            <a:r>
              <a:t>•  Cảnh báo tức thời đối tượng nằm trong danh sách đen (Blacklist) với độ trễ dưới 1 giây.</a:t>
            </a:r>
          </a:p>
          <a:p>
            <a:pPr>
              <a:spcAft>
                <a:spcPts val="500"/>
              </a:spcAft>
              <a:defRPr sz="1100">
                <a:solidFill>
                  <a:srgbClr val="1E293B"/>
                </a:solidFill>
              </a:defRPr>
            </a:pPr>
            <a:r>
              <a:t>•  Tự động điểm danh hàng vạn cán bộ công nhân viên không cần chạm.</a:t>
            </a:r>
          </a:p>
          <a:p>
            <a:pPr>
              <a:spcAft>
                <a:spcPts val="500"/>
              </a:spcAft>
              <a:defRPr sz="1100">
                <a:solidFill>
                  <a:srgbClr val="1E293B"/>
                </a:solidFill>
              </a:defRPr>
            </a:pPr>
            <a:r>
              <a:t>•  Truy vết lộ trình di chuyển liên camera (Cross-Camera Tracking) trên Data Lake.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E7490"/>
                </a:solidFill>
              </a:defRPr>
            </a:pPr>
            <a:r>
              <a:t>ĐỒ ÁN PHÂN TÍCH DỮ LIỆU LỚN - NHẬN DIỆN KHUÔN MẶT ĐA CAMERA</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defRPr>
            </a:pPr>
            <a:r>
              <a:t>Tiến hóa Công nghệ Trích xuất Đặc trưng Sâu (Deep Representation)</a:t>
            </a:r>
          </a:p>
        </p:txBody>
      </p:sp>
      <p:sp>
        <p:nvSpPr>
          <p:cNvPr id="4" name="Rounded Rectangle 3"/>
          <p:cNvSpPr/>
          <p:nvPr/>
        </p:nvSpPr>
        <p:spPr>
          <a:xfrm>
            <a:off x="7315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E7490"/>
                </a:solidFill>
              </a:defRPr>
            </a:pPr>
            <a:r>
              <a:t>Từ Softmax đến Triplet Loss</a:t>
            </a:r>
          </a:p>
          <a:p>
            <a:pPr>
              <a:spcAft>
                <a:spcPts val="500"/>
              </a:spcAft>
              <a:defRPr sz="1100">
                <a:solidFill>
                  <a:srgbClr val="1E293B"/>
                </a:solidFill>
              </a:defRPr>
            </a:pPr>
            <a:r>
              <a:t>•  DeepFace (2014): Dùng hàm Softmax truyền thống, số lượng tham số bùng nổ theo số lớp danh tính.</a:t>
            </a:r>
          </a:p>
          <a:p>
            <a:pPr>
              <a:spcAft>
                <a:spcPts val="500"/>
              </a:spcAft>
              <a:defRPr sz="1100">
                <a:solidFill>
                  <a:srgbClr val="1E293B"/>
                </a:solidFill>
              </a:defRPr>
            </a:pPr>
            <a:r>
              <a:t>•  FaceNet (2015): Sử dụng Triplet Loss tối ưu khoảng cách Euclid cục bộ giữa Anchor, Positive, Negative.</a:t>
            </a:r>
          </a:p>
          <a:p>
            <a:pPr>
              <a:spcAft>
                <a:spcPts val="500"/>
              </a:spcAft>
              <a:defRPr sz="1100">
                <a:solidFill>
                  <a:srgbClr val="1E293B"/>
                </a:solidFill>
              </a:defRPr>
            </a:pPr>
            <a:r>
              <a:t>•  Hạn chế FaceNet: Khó khăn trong việc khai phá mẫu khó (Semi-hard mining), hội tụ chậm trên tập dữ liệu lớn.</a:t>
            </a:r>
          </a:p>
        </p:txBody>
      </p:sp>
      <p:sp>
        <p:nvSpPr>
          <p:cNvPr id="5" name="Rounded Rectangle 4"/>
          <p:cNvSpPr/>
          <p:nvPr/>
        </p:nvSpPr>
        <p:spPr>
          <a:xfrm>
            <a:off x="62179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E7490"/>
                </a:solidFill>
              </a:defRPr>
            </a:pPr>
            <a:r>
              <a:t>Bước đột phá: ArcFace trên Mặt Siêu Cầu</a:t>
            </a:r>
          </a:p>
          <a:p>
            <a:pPr>
              <a:spcAft>
                <a:spcPts val="500"/>
              </a:spcAft>
              <a:defRPr sz="1100">
                <a:solidFill>
                  <a:srgbClr val="1E293B"/>
                </a:solidFill>
              </a:defRPr>
            </a:pPr>
            <a:r>
              <a:t>•  SphereFace &amp; CosFace: Đưa biên góc vào hàm mất mát để tối ưu độ tương đồng Cosine.</a:t>
            </a:r>
          </a:p>
          <a:p>
            <a:pPr>
              <a:spcAft>
                <a:spcPts val="500"/>
              </a:spcAft>
              <a:defRPr sz="1100">
                <a:solidFill>
                  <a:srgbClr val="1E293B"/>
                </a:solidFill>
              </a:defRPr>
            </a:pPr>
            <a:r>
              <a:t>•  ArcFace (2019): Bổ sung biên góc cộng tính trực tiếp vào góc đích: cos(θ + m).</a:t>
            </a:r>
          </a:p>
          <a:p>
            <a:pPr>
              <a:spcAft>
                <a:spcPts val="500"/>
              </a:spcAft>
              <a:defRPr sz="1100">
                <a:solidFill>
                  <a:srgbClr val="1E293B"/>
                </a:solidFill>
              </a:defRPr>
            </a:pPr>
            <a:r>
              <a:t>•  Phân tách rõ ràng giữa các lớp trên mặt siêu cầu, đạt độ chính xác 99.83% trên tập chuẩn LFW.</a:t>
            </a:r>
          </a:p>
          <a:p>
            <a:pPr>
              <a:spcAft>
                <a:spcPts val="500"/>
              </a:spcAft>
              <a:defRPr sz="1100">
                <a:solidFill>
                  <a:srgbClr val="1E293B"/>
                </a:solidFill>
              </a:defRPr>
            </a:pPr>
            <a:r>
              <a:t>•  Vector đặc trưng chuẩn hóa L2 có tính khái quát cao, không cần huấn luyện lại mạng.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E7490"/>
                </a:solidFill>
              </a:defRPr>
            </a:pPr>
            <a:r>
              <a:t>ĐỒ ÁN PHÂN TÍCH DỮ LIỆU LỚN - NHẬN DIỆN KHUÔN MẶT ĐA CAMERA</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defRPr>
            </a:pPr>
            <a:r>
              <a:t>Tổng quan Chỉ mục Tìm kiếm Vector Chiều cao (ANN Indexing)</a:t>
            </a:r>
          </a:p>
        </p:txBody>
      </p:sp>
      <p:sp>
        <p:nvSpPr>
          <p:cNvPr id="4" name="Rounded Rectangle 3"/>
          <p:cNvSpPr/>
          <p:nvPr/>
        </p:nvSpPr>
        <p:spPr>
          <a:xfrm>
            <a:off x="7315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E7490"/>
                </a:solidFill>
              </a:defRPr>
            </a:pPr>
            <a:r>
              <a:t>Hạn chế của Cấu trúc Cổ điển</a:t>
            </a:r>
          </a:p>
          <a:p>
            <a:pPr>
              <a:spcAft>
                <a:spcPts val="500"/>
              </a:spcAft>
              <a:defRPr sz="1100">
                <a:solidFill>
                  <a:srgbClr val="1E293B"/>
                </a:solidFill>
              </a:defRPr>
            </a:pPr>
            <a:r>
              <a:t>•  KD-Tree, Ball-Tree: Hoàn toàn mất tác dụng trong không gian 512 chiều do 'Lời nguyền số chiều'.</a:t>
            </a:r>
          </a:p>
          <a:p>
            <a:pPr>
              <a:spcAft>
                <a:spcPts val="500"/>
              </a:spcAft>
              <a:defRPr sz="1100">
                <a:solidFill>
                  <a:srgbClr val="1E293B"/>
                </a:solidFill>
              </a:defRPr>
            </a:pPr>
            <a:r>
              <a:t>•  LSH (Locality Sensitive Hashing): Tốn nhiều hàm băm và dung lượng bộ nhớ lớn để đạt Recall cao.</a:t>
            </a:r>
          </a:p>
          <a:p>
            <a:pPr>
              <a:spcAft>
                <a:spcPts val="500"/>
              </a:spcAft>
              <a:defRPr sz="1100">
                <a:solidFill>
                  <a:srgbClr val="1E293B"/>
                </a:solidFill>
              </a:defRPr>
            </a:pPr>
            <a:r>
              <a:t>•  Quét cạn (IndexFlatIP): Cho độ chính xác 100% nhưng không thể mở rộng quá 100.000 vectors.</a:t>
            </a:r>
          </a:p>
        </p:txBody>
      </p:sp>
      <p:sp>
        <p:nvSpPr>
          <p:cNvPr id="5" name="Rounded Rectangle 4"/>
          <p:cNvSpPr/>
          <p:nvPr/>
        </p:nvSpPr>
        <p:spPr>
          <a:xfrm>
            <a:off x="62179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E7490"/>
                </a:solidFill>
              </a:defRPr>
            </a:pPr>
            <a:r>
              <a:t>Các Trụ cột Hiện đại trong Thư viện FAISS</a:t>
            </a:r>
          </a:p>
          <a:p>
            <a:pPr>
              <a:spcAft>
                <a:spcPts val="500"/>
              </a:spcAft>
              <a:defRPr sz="1100">
                <a:solidFill>
                  <a:srgbClr val="1E293B"/>
                </a:solidFill>
              </a:defRPr>
            </a:pPr>
            <a:r>
              <a:t>•  Inverted File (IVF): Phân vùng không gian thành nlist cụm Voronoi; chỉ tìm kiếm trong nprobe cụm lân cận.</a:t>
            </a:r>
          </a:p>
          <a:p>
            <a:pPr>
              <a:spcAft>
                <a:spcPts val="500"/>
              </a:spcAft>
              <a:defRPr sz="1100">
                <a:solidFill>
                  <a:srgbClr val="1E293B"/>
                </a:solidFill>
              </a:defRPr>
            </a:pPr>
            <a:r>
              <a:t>•  Product Quantization (PQ): Phân rã vector thành m không gian con và nén thành mã byte 8-bit.</a:t>
            </a:r>
          </a:p>
          <a:p>
            <a:pPr>
              <a:spcAft>
                <a:spcPts val="500"/>
              </a:spcAft>
              <a:defRPr sz="1100">
                <a:solidFill>
                  <a:srgbClr val="1E293B"/>
                </a:solidFill>
              </a:defRPr>
            </a:pPr>
            <a:r>
              <a:t>•  HNSW: Xây dựng đồ thị phân cấp thế giới nhỏ, cho tốc độ tìm kiếm cận logarit O(log 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E7490"/>
                </a:solidFill>
              </a:defRPr>
            </a:pPr>
            <a:r>
              <a:t>ĐỒ ÁN PHÂN TÍCH DỮ LIỆU LỚN - NHẬN DIỆN KHUÔN MẶT ĐA CAMERA</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defRPr>
            </a:pPr>
            <a:r>
              <a:t>Tổng quan Công nghệ Xử lý Luồng Phân tán &amp; Data Lake</a:t>
            </a:r>
          </a:p>
        </p:txBody>
      </p:sp>
      <p:sp>
        <p:nvSpPr>
          <p:cNvPr id="4" name="Rounded Rectangle 3"/>
          <p:cNvSpPr/>
          <p:nvPr/>
        </p:nvSpPr>
        <p:spPr>
          <a:xfrm>
            <a:off x="7315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E7490"/>
                </a:solidFill>
              </a:defRPr>
            </a:pPr>
            <a:r>
              <a:t>Apache Kafka &amp; Spark Streaming</a:t>
            </a:r>
          </a:p>
          <a:p>
            <a:pPr>
              <a:spcAft>
                <a:spcPts val="500"/>
              </a:spcAft>
              <a:defRPr sz="1100">
                <a:solidFill>
                  <a:srgbClr val="1E293B"/>
                </a:solidFill>
              </a:defRPr>
            </a:pPr>
            <a:r>
              <a:t>•  Apache Kafka: Bộ đệm thông điệp phân tán với cơ chế log phân vùng, chịu lỗi cao, thông lượng &gt; 100k msg/s.</a:t>
            </a:r>
          </a:p>
          <a:p>
            <a:pPr>
              <a:spcAft>
                <a:spcPts val="500"/>
              </a:spcAft>
              <a:defRPr sz="1100">
                <a:solidFill>
                  <a:srgbClr val="1E293B"/>
                </a:solidFill>
              </a:defRPr>
            </a:pPr>
            <a:r>
              <a:t>•  PySpark Structured Streaming: Xử lý theo vi lô (Micro-batch), hỗ trợ mô hình thời gian sự kiện (Event-Time).</a:t>
            </a:r>
          </a:p>
          <a:p>
            <a:pPr>
              <a:spcAft>
                <a:spcPts val="500"/>
              </a:spcAft>
              <a:defRPr sz="1100">
                <a:solidFill>
                  <a:srgbClr val="1E293B"/>
                </a:solidFill>
              </a:defRPr>
            </a:pPr>
            <a:r>
              <a:t>•  Stateful Deduplication: Lưu trữ trạng thái tạm thời để khử trùng lặp sự kiện cùng đối tượng.</a:t>
            </a:r>
          </a:p>
        </p:txBody>
      </p:sp>
      <p:sp>
        <p:nvSpPr>
          <p:cNvPr id="5" name="Rounded Rectangle 4"/>
          <p:cNvSpPr/>
          <p:nvPr/>
        </p:nvSpPr>
        <p:spPr>
          <a:xfrm>
            <a:off x="62179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E7490"/>
                </a:solidFill>
              </a:defRPr>
            </a:pPr>
            <a:r>
              <a:t>Định dạng Lưu trữ Cột Apache Parquet</a:t>
            </a:r>
          </a:p>
          <a:p>
            <a:pPr>
              <a:spcAft>
                <a:spcPts val="500"/>
              </a:spcAft>
              <a:defRPr sz="1100">
                <a:solidFill>
                  <a:srgbClr val="1E293B"/>
                </a:solidFill>
              </a:defRPr>
            </a:pPr>
            <a:r>
              <a:t>•  Cấu trúc lưu trữ hướng cột tối ưu hóa các phép tính tổng hợp (OLAP Aggregation).</a:t>
            </a:r>
          </a:p>
          <a:p>
            <a:pPr>
              <a:spcAft>
                <a:spcPts val="500"/>
              </a:spcAft>
              <a:defRPr sz="1100">
                <a:solidFill>
                  <a:srgbClr val="1E293B"/>
                </a:solidFill>
              </a:defRPr>
            </a:pPr>
            <a:r>
              <a:t>•  Thuật toán nén Snappy / ZSTD giúp giảm 75 - 85% dung lượng đĩa so với JSON/CSV thô.</a:t>
            </a:r>
          </a:p>
          <a:p>
            <a:pPr>
              <a:spcAft>
                <a:spcPts val="500"/>
              </a:spcAft>
              <a:defRPr sz="1100">
                <a:solidFill>
                  <a:srgbClr val="1E293B"/>
                </a:solidFill>
              </a:defRPr>
            </a:pPr>
            <a:r>
              <a:t>•  Dictionary Encoding và Bit-Packing cho phép lọc dữ liệu mà không cần giải nén toàn bộ file.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E7490"/>
                </a:solidFill>
              </a:defRPr>
            </a:pPr>
            <a:r>
              <a:t>ĐỒ ÁN PHÂN TÍCH DỮ LIỆU LỚN - NHẬN DIỆN KHUÔN MẶT ĐA CAMERA</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defRPr>
            </a:pPr>
            <a:r>
              <a:t>Đối sánh Nghiên cứu Liên quan &amp; Khoảng trống Nghiên cứu</a:t>
            </a:r>
          </a:p>
        </p:txBody>
      </p:sp>
      <p:sp>
        <p:nvSpPr>
          <p:cNvPr id="4" name="Rounded Rectangle 3"/>
          <p:cNvSpPr/>
          <p:nvPr/>
        </p:nvSpPr>
        <p:spPr>
          <a:xfrm>
            <a:off x="7315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E7490"/>
                </a:solidFill>
              </a:defRPr>
            </a:pPr>
            <a:r>
              <a:t>Hạn chế của các Công trình Trước đây</a:t>
            </a:r>
          </a:p>
          <a:p>
            <a:pPr>
              <a:spcAft>
                <a:spcPts val="500"/>
              </a:spcAft>
              <a:defRPr sz="1100">
                <a:solidFill>
                  <a:srgbClr val="1E293B"/>
                </a:solidFill>
              </a:defRPr>
            </a:pPr>
            <a:r>
              <a:t>•  Nhiều công trình chỉ tập trung cải tiến mô hình AI trên ảnh tĩnh, bỏ qua bài toán mở rộng triệu vector.</a:t>
            </a:r>
          </a:p>
          <a:p>
            <a:pPr>
              <a:spcAft>
                <a:spcPts val="500"/>
              </a:spcAft>
              <a:defRPr sz="1100">
                <a:solidFill>
                  <a:srgbClr val="1E293B"/>
                </a:solidFill>
              </a:defRPr>
            </a:pPr>
            <a:r>
              <a:t>•  Một số nghiên cứu dùng Milvus/FAISS độc lập nhưng thiếu tầng xử lý luồng sự kiện phân tán.</a:t>
            </a:r>
          </a:p>
          <a:p>
            <a:pPr>
              <a:spcAft>
                <a:spcPts val="500"/>
              </a:spcAft>
              <a:defRPr sz="1100">
                <a:solidFill>
                  <a:srgbClr val="1E293B"/>
                </a:solidFill>
              </a:defRPr>
            </a:pPr>
            <a:r>
              <a:t>•  Thiếu cơ chế lọc chất lượng khung hình RTSP dẫn tới lãng phí năng nguyên tính toán.</a:t>
            </a:r>
          </a:p>
        </p:txBody>
      </p:sp>
      <p:sp>
        <p:nvSpPr>
          <p:cNvPr id="5" name="Rounded Rectangle 4"/>
          <p:cNvSpPr/>
          <p:nvPr/>
        </p:nvSpPr>
        <p:spPr>
          <a:xfrm>
            <a:off x="62179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E7490"/>
                </a:solidFill>
              </a:defRPr>
            </a:pPr>
            <a:r>
              <a:t>Khoảng trống Nghiên cứu Đề tài Giải quyết</a:t>
            </a:r>
          </a:p>
          <a:p>
            <a:pPr>
              <a:spcAft>
                <a:spcPts val="500"/>
              </a:spcAft>
              <a:defRPr sz="1100">
                <a:solidFill>
                  <a:srgbClr val="1E293B"/>
                </a:solidFill>
              </a:defRPr>
            </a:pPr>
            <a:r>
              <a:t>•  Thiết lập Kiến trúc Lai 4 tầng hoàn chỉnh từ thu nhận video RTSP đến lưu trữ Data Lake.</a:t>
            </a:r>
          </a:p>
          <a:p>
            <a:pPr>
              <a:spcAft>
                <a:spcPts val="500"/>
              </a:spcAft>
              <a:defRPr sz="1100">
                <a:solidFill>
                  <a:srgbClr val="1E293B"/>
                </a:solidFill>
              </a:defRPr>
            </a:pPr>
            <a:r>
              <a:t>•  Kết hợp đồng thời nén RAM 32x (IVF-PQ) và duy trì độ trễ &lt; 1ms trên hàng triệu thực thể.</a:t>
            </a:r>
          </a:p>
          <a:p>
            <a:pPr>
              <a:spcAft>
                <a:spcPts val="500"/>
              </a:spcAft>
              <a:defRPr sz="1100">
                <a:solidFill>
                  <a:srgbClr val="1E293B"/>
                </a:solidFill>
              </a:defRPr>
            </a:pPr>
            <a:r>
              <a:t>•  Tích hợp thuật toán khử trùng lặp có trạng thái và truy vết lộ trình liên camera thời gian thực.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E7490"/>
                </a:solidFill>
              </a:defRPr>
            </a:pPr>
            <a:r>
              <a:t>ĐỒ ÁN PHÂN TÍCH DỮ LIỆU LỚN - NHẬN DIỆN KHUÔN MẶT ĐA CAMERA</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defRPr>
            </a:pPr>
            <a:r>
              <a:t>Kiến trúc Lai 4 tầng Tổng thể (4-Tier Architecture)</a:t>
            </a:r>
          </a:p>
        </p:txBody>
      </p:sp>
      <p:pic>
        <p:nvPicPr>
          <p:cNvPr id="4" name="Picture 3" descr="fig1_system_architecture.png"/>
          <p:cNvPicPr>
            <a:picLocks noChangeAspect="1"/>
          </p:cNvPicPr>
          <p:nvPr/>
        </p:nvPicPr>
        <p:blipFill>
          <a:blip r:embed="rId2"/>
          <a:stretch>
            <a:fillRect/>
          </a:stretch>
        </p:blipFill>
        <p:spPr>
          <a:xfrm>
            <a:off x="731520" y="1554480"/>
            <a:ext cx="10698480" cy="5753804"/>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E7490"/>
                </a:solidFill>
              </a:defRPr>
            </a:pPr>
            <a:r>
              <a:t>ĐỒ ÁN PHÂN TÍCH DỮ LIỆU LỚN - NHẬN DIỆN KHUÔN MẶT ĐA CAMERA</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defRPr>
            </a:pPr>
            <a:r>
              <a:t>Tầng 1: Thu nhận Luồng RTSP và Lọc Mờ Khung hình</a:t>
            </a:r>
          </a:p>
        </p:txBody>
      </p:sp>
      <p:sp>
        <p:nvSpPr>
          <p:cNvPr id="4" name="Rounded Rectangle 3"/>
          <p:cNvSpPr/>
          <p:nvPr/>
        </p:nvSpPr>
        <p:spPr>
          <a:xfrm>
            <a:off x="7315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E7490"/>
                </a:solidFill>
              </a:defRPr>
            </a:pPr>
            <a:r>
              <a:t>Toán tử Laplace và Đo độ Sắc nét</a:t>
            </a:r>
          </a:p>
          <a:p>
            <a:pPr>
              <a:spcAft>
                <a:spcPts val="500"/>
              </a:spcAft>
              <a:defRPr sz="1100">
                <a:solidFill>
                  <a:srgbClr val="1E293B"/>
                </a:solidFill>
              </a:defRPr>
            </a:pPr>
            <a:r>
              <a:t>•  Toán tử Laplace: Δf = ∂²f/∂x² + ∂²f/∂y²; ma trận nhân tích chập [[0,1,0],[1,-4,1],[0,1,0]].</a:t>
            </a:r>
          </a:p>
          <a:p>
            <a:pPr>
              <a:spcAft>
                <a:spcPts val="500"/>
              </a:spcAft>
              <a:defRPr sz="1100">
                <a:solidFill>
                  <a:srgbClr val="1E293B"/>
                </a:solidFill>
              </a:defRPr>
            </a:pPr>
            <a:r>
              <a:t>•  Đo độ sắc nét bằng phương sai: σ²_Laplacian = Var(Δf).</a:t>
            </a:r>
          </a:p>
          <a:p>
            <a:pPr>
              <a:spcAft>
                <a:spcPts val="500"/>
              </a:spcAft>
              <a:defRPr sz="1100">
                <a:solidFill>
                  <a:srgbClr val="1E293B"/>
                </a:solidFill>
              </a:defRPr>
            </a:pPr>
            <a:r>
              <a:t>•  Khung hình mờ do chuyển động làm triệt tiêu các cạnh tần số cao =&gt; σ² giảm mạnh.</a:t>
            </a:r>
          </a:p>
          <a:p>
            <a:pPr>
              <a:spcAft>
                <a:spcPts val="500"/>
              </a:spcAft>
              <a:defRPr sz="1100">
                <a:solidFill>
                  <a:srgbClr val="1E293B"/>
                </a:solidFill>
              </a:defRPr>
            </a:pPr>
            <a:r>
              <a:t>•  Hệ thống thiết lập ngưỡng lọc σ² &gt;= 120; loại bỏ ngay 50 - 70% khung hình suy biến.</a:t>
            </a:r>
          </a:p>
        </p:txBody>
      </p:sp>
      <p:sp>
        <p:nvSpPr>
          <p:cNvPr id="5" name="Rounded Rectangle 4"/>
          <p:cNvSpPr/>
          <p:nvPr/>
        </p:nvSpPr>
        <p:spPr>
          <a:xfrm>
            <a:off x="62179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E7490"/>
                </a:solidFill>
              </a:defRPr>
            </a:pPr>
            <a:r>
              <a:t>Cơ chế Dynamic Frame Dropping</a:t>
            </a:r>
          </a:p>
          <a:p>
            <a:pPr>
              <a:spcAft>
                <a:spcPts val="500"/>
              </a:spcAft>
              <a:defRPr sz="1100">
                <a:solidFill>
                  <a:srgbClr val="1E293B"/>
                </a:solidFill>
              </a:defRPr>
            </a:pPr>
            <a:r>
              <a:t>•  Camera IP truyền 25 - 30 FPS, khuôn mặt di chuyển chỉ cần phân tích 3 - 5 FPS.</a:t>
            </a:r>
          </a:p>
          <a:p>
            <a:pPr>
              <a:spcAft>
                <a:spcPts val="500"/>
              </a:spcAft>
              <a:defRPr sz="1100">
                <a:solidFill>
                  <a:srgbClr val="1E293B"/>
                </a:solidFill>
              </a:defRPr>
            </a:pPr>
            <a:r>
              <a:t>•  Bộ đệm vòng (Ring Buffer) tự động hủy các khung hình cũ khi hàng đợi xử lý quá tải.</a:t>
            </a:r>
          </a:p>
          <a:p>
            <a:pPr>
              <a:spcAft>
                <a:spcPts val="500"/>
              </a:spcAft>
              <a:defRPr sz="1100">
                <a:solidFill>
                  <a:srgbClr val="1E293B"/>
                </a:solidFill>
              </a:defRPr>
            </a:pPr>
            <a:r>
              <a:t>•  Đảm bảo hệ thống không bao giờ bị tích tụ độ trễ mạng (Network Latency Accumulation).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E7490"/>
                </a:solidFill>
              </a:defRPr>
            </a:pPr>
            <a:r>
              <a:t>ĐỒ ÁN PHÂN TÍCH DỮ LIỆU LỚN - NHẬN DIỆN KHUÔN MẶT ĐA CAMERA</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defRPr>
            </a:pPr>
            <a:r>
              <a:t>Tầng 2: Phát hiện RetinaFace và Căn chỉnh Affine 5 Điểm</a:t>
            </a:r>
          </a:p>
        </p:txBody>
      </p:sp>
      <p:sp>
        <p:nvSpPr>
          <p:cNvPr id="4" name="Rounded Rectangle 3"/>
          <p:cNvSpPr/>
          <p:nvPr/>
        </p:nvSpPr>
        <p:spPr>
          <a:xfrm>
            <a:off x="7315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E7490"/>
                </a:solidFill>
              </a:defRPr>
            </a:pPr>
            <a:r>
              <a:t>RetinaFace &amp; Loss Đa nhiệm</a:t>
            </a:r>
          </a:p>
          <a:p>
            <a:pPr>
              <a:spcAft>
                <a:spcPts val="500"/>
              </a:spcAft>
              <a:defRPr sz="1100">
                <a:solidFill>
                  <a:srgbClr val="1E293B"/>
                </a:solidFill>
              </a:defRPr>
            </a:pPr>
            <a:r>
              <a:t>•  Kiến trúc Feature Pyramid Network (FPN) kết hợp mô-đun bối cảnh SSH.</a:t>
            </a:r>
          </a:p>
          <a:p>
            <a:pPr>
              <a:spcAft>
                <a:spcPts val="500"/>
              </a:spcAft>
              <a:defRPr sz="1100">
                <a:solidFill>
                  <a:srgbClr val="1E293B"/>
                </a:solidFill>
              </a:defRPr>
            </a:pPr>
            <a:r>
              <a:t>•  Hàm mất mát đa nhiệm: L = L_cls + λ1 * L_box + λ2 * L_pts + λ3 * L_pixel.</a:t>
            </a:r>
          </a:p>
          <a:p>
            <a:pPr>
              <a:spcAft>
                <a:spcPts val="500"/>
              </a:spcAft>
              <a:defRPr sz="1100">
                <a:solidFill>
                  <a:srgbClr val="1E293B"/>
                </a:solidFill>
              </a:defRPr>
            </a:pPr>
            <a:r>
              <a:t>•  Xác định đồng thời Bounding Box và 5 điểm mốc: 2 mắt, đỉnh mũi, 2 khóe miệng.</a:t>
            </a:r>
          </a:p>
        </p:txBody>
      </p:sp>
      <p:sp>
        <p:nvSpPr>
          <p:cNvPr id="5" name="Rounded Rectangle 4"/>
          <p:cNvSpPr/>
          <p:nvPr/>
        </p:nvSpPr>
        <p:spPr>
          <a:xfrm>
            <a:off x="62179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E7490"/>
                </a:solidFill>
              </a:defRPr>
            </a:pPr>
            <a:r>
              <a:t>Chuẩn hóa Hình học bằng Biến đổi Affine</a:t>
            </a:r>
          </a:p>
          <a:p>
            <a:pPr>
              <a:spcAft>
                <a:spcPts val="500"/>
              </a:spcAft>
              <a:defRPr sz="1100">
                <a:solidFill>
                  <a:srgbClr val="1E293B"/>
                </a:solidFill>
              </a:defRPr>
            </a:pPr>
            <a:r>
              <a:t>•  Tìm ma trận Affine M ∈ ℝ²ˣ³ qua bài toán bình phương tối thiểu giữa 5 điểm mốc và tọa độ mẫu.</a:t>
            </a:r>
          </a:p>
          <a:p>
            <a:pPr>
              <a:spcAft>
                <a:spcPts val="500"/>
              </a:spcAft>
              <a:defRPr sz="1100">
                <a:solidFill>
                  <a:srgbClr val="1E293B"/>
                </a:solidFill>
              </a:defRPr>
            </a:pPr>
            <a:r>
              <a:t>•  Phép xoay và co giãn đưa khuôn mặt về tư thế chuẩn chính diện kích thước 112 x 112 pixels.</a:t>
            </a:r>
          </a:p>
          <a:p>
            <a:pPr>
              <a:spcAft>
                <a:spcPts val="500"/>
              </a:spcAft>
              <a:defRPr sz="1100">
                <a:solidFill>
                  <a:srgbClr val="1E293B"/>
                </a:solidFill>
              </a:defRPr>
            </a:pPr>
            <a:r>
              <a:t>•  Loại bỏ triệt để sai số do góc nghiêng đầu của người đi lại trước camera.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E7490"/>
                </a:solidFill>
              </a:defRPr>
            </a:pPr>
            <a:r>
              <a:t>ĐỒ ÁN PHÂN TÍCH DỮ LIỆU LỚN - NHẬN DIỆN KHUÔN MẶT ĐA CAMERA</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defRPr>
            </a:pPr>
            <a:r>
              <a:t>Toán học ArcFace trên Mặt Siêu Cầu Đơn vị</a:t>
            </a:r>
          </a:p>
        </p:txBody>
      </p:sp>
      <p:sp>
        <p:nvSpPr>
          <p:cNvPr id="4" name="Rounded Rectangle 3"/>
          <p:cNvSpPr/>
          <p:nvPr/>
        </p:nvSpPr>
        <p:spPr>
          <a:xfrm>
            <a:off x="7315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E7490"/>
                </a:solidFill>
              </a:defRPr>
            </a:pPr>
            <a:r>
              <a:t>Công thức Hàm Mất mát Biên Góc</a:t>
            </a:r>
          </a:p>
          <a:p>
            <a:pPr>
              <a:spcAft>
                <a:spcPts val="500"/>
              </a:spcAft>
              <a:defRPr sz="1100">
                <a:solidFill>
                  <a:srgbClr val="1E293B"/>
                </a:solidFill>
              </a:defRPr>
            </a:pPr>
            <a:r>
              <a:t>•  Chuẩn hóa L2 trọng số ||W_j|| = 1 và đặc trưng ||x_i|| = 1 =&gt; W_j^T * x_i = cos(θ_j).</a:t>
            </a:r>
          </a:p>
          <a:p>
            <a:pPr>
              <a:spcAft>
                <a:spcPts val="500"/>
              </a:spcAft>
              <a:defRPr sz="1100">
                <a:solidFill>
                  <a:srgbClr val="1E293B"/>
                </a:solidFill>
              </a:defRPr>
            </a:pPr>
            <a:r>
              <a:t>•  Hàm mất mát ArcFace: L = - (1/B) * Σ log [ e^(s * cos(θ + m)) / (e^(s * cos(θ + m)) + Σ e^(s * cos θ_j)) ].</a:t>
            </a:r>
          </a:p>
          <a:p>
            <a:pPr>
              <a:spcAft>
                <a:spcPts val="500"/>
              </a:spcAft>
              <a:defRPr sz="1100">
                <a:solidFill>
                  <a:srgbClr val="1E293B"/>
                </a:solidFill>
              </a:defRPr>
            </a:pPr>
            <a:r>
              <a:t>•  Hệ số tỷ lệ s = 64 và biên góc cộng tính m = 0.5 rad (~ 28.6°).</a:t>
            </a:r>
          </a:p>
          <a:p>
            <a:pPr>
              <a:spcAft>
                <a:spcPts val="500"/>
              </a:spcAft>
              <a:defRPr sz="1100">
                <a:solidFill>
                  <a:srgbClr val="1E293B"/>
                </a:solidFill>
              </a:defRPr>
            </a:pPr>
            <a:r>
              <a:t>•  Tối đa hóa khoảng cách giữa các lớp (Inter-class) và co cụm nội bộ lớp (Intra-class).</a:t>
            </a:r>
          </a:p>
        </p:txBody>
      </p:sp>
      <p:sp>
        <p:nvSpPr>
          <p:cNvPr id="5" name="Rounded Rectangle 4"/>
          <p:cNvSpPr/>
          <p:nvPr/>
        </p:nvSpPr>
        <p:spPr>
          <a:xfrm>
            <a:off x="62179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E7490"/>
                </a:solidFill>
              </a:defRPr>
            </a:pPr>
            <a:r>
              <a:t>Tách biệt Training và Identification 1:N</a:t>
            </a:r>
          </a:p>
          <a:p>
            <a:pPr>
              <a:spcAft>
                <a:spcPts val="500"/>
              </a:spcAft>
              <a:defRPr sz="1100">
                <a:solidFill>
                  <a:srgbClr val="1E293B"/>
                </a:solidFill>
              </a:defRPr>
            </a:pPr>
            <a:r>
              <a:t>•  Mô hình được huấn luyện trước (Pretrained) trên hàng triệu ảnh chuẩn (MS1MV2).</a:t>
            </a:r>
          </a:p>
          <a:p>
            <a:pPr>
              <a:spcAft>
                <a:spcPts val="500"/>
              </a:spcAft>
              <a:defRPr sz="1100">
                <a:solidFill>
                  <a:srgbClr val="1E293B"/>
                </a:solidFill>
              </a:defRPr>
            </a:pPr>
            <a:r>
              <a:t>•  Khi triển khai thực tế: Thêm người mới chỉ cần trích xuất vector 512D nạp vào FAISS.</a:t>
            </a:r>
          </a:p>
          <a:p>
            <a:pPr>
              <a:spcAft>
                <a:spcPts val="500"/>
              </a:spcAft>
              <a:defRPr sz="1100">
                <a:solidFill>
                  <a:srgbClr val="1E293B"/>
                </a:solidFill>
              </a:defRPr>
            </a:pPr>
            <a:r>
              <a:t>•  Không cần huấn luyện lại mạng nơ-ron (Zero-Retraining Cost), sẵn sàng mở rộng vô hạn.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E7490"/>
                </a:solidFill>
              </a:defRPr>
            </a:pPr>
            <a:r>
              <a:t>ĐỒ ÁN PHÂN TÍCH DỮ LIỆU LỚN - NHẬN DIỆN KHUÔN MẶT ĐA CAMERA</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defRPr>
            </a:pPr>
            <a:r>
              <a:t>Chứng minh Tương đương Toán học: Cosine và Khoảng cách Euclid</a:t>
            </a:r>
          </a:p>
        </p:txBody>
      </p:sp>
      <p:sp>
        <p:nvSpPr>
          <p:cNvPr id="4" name="Rounded Rectangle 3"/>
          <p:cNvSpPr/>
          <p:nvPr/>
        </p:nvSpPr>
        <p:spPr>
          <a:xfrm>
            <a:off x="731520" y="1645920"/>
            <a:ext cx="106070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E7490"/>
                </a:solidFill>
              </a:defRPr>
            </a:pPr>
            <a:r>
              <a:t>Các Bước Chứng minh Toán học Chặt chẽ</a:t>
            </a:r>
          </a:p>
          <a:p>
            <a:pPr>
              <a:spcAft>
                <a:spcPts val="500"/>
              </a:spcAft>
              <a:defRPr sz="1100">
                <a:solidFill>
                  <a:srgbClr val="1E293B"/>
                </a:solidFill>
              </a:defRPr>
            </a:pPr>
            <a:r>
              <a:t>•  Giả thiết: Cho hai vector u, v ∈ ℝ⁵¹² đã được chuẩn hóa L2 đơn vị: ||u||₂ = 1 và ||v||₂ = 1.</a:t>
            </a:r>
          </a:p>
          <a:p>
            <a:pPr>
              <a:spcAft>
                <a:spcPts val="500"/>
              </a:spcAft>
              <a:defRPr sz="1100">
                <a:solidFill>
                  <a:srgbClr val="1E293B"/>
                </a:solidFill>
              </a:defRPr>
            </a:pPr>
            <a:r>
              <a:t>•  Khai triển khoảng cách Euclid bình phương: ||u - v||₂² = (u - v)ᵀ (u - v) = ||u||₂² + ||v||₂² - 2 uᵀ v.</a:t>
            </a:r>
          </a:p>
          <a:p>
            <a:pPr>
              <a:spcAft>
                <a:spcPts val="500"/>
              </a:spcAft>
              <a:defRPr sz="1100">
                <a:solidFill>
                  <a:srgbClr val="1E293B"/>
                </a:solidFill>
              </a:defRPr>
            </a:pPr>
            <a:r>
              <a:t>•  Thay độ dài đơn vị vào: ||u - v||₂² = 1 + 1 - 2 (uᵀ v) = 2 - 2 * S_cos(u, v).</a:t>
            </a:r>
          </a:p>
          <a:p>
            <a:pPr>
              <a:spcAft>
                <a:spcPts val="500"/>
              </a:spcAft>
              <a:defRPr sz="1100">
                <a:solidFill>
                  <a:srgbClr val="1E293B"/>
                </a:solidFill>
              </a:defRPr>
            </a:pPr>
            <a:r>
              <a:t>•  Suy ra: S_cos(u, v) = 1 - (1/2) * ||u - v||₂².</a:t>
            </a:r>
          </a:p>
          <a:p>
            <a:pPr>
              <a:spcAft>
                <a:spcPts val="500"/>
              </a:spcAft>
              <a:defRPr sz="1100">
                <a:solidFill>
                  <a:srgbClr val="1E293B"/>
                </a:solidFill>
              </a:defRPr>
            </a:pPr>
            <a:r>
              <a:t>•  Hệ quả thực tiễn: Cặp vector có độ tương đồng Cosine lớn nhất CHÍNH LÀ cặp có khoảng cách Euclid nhỏ nhất!</a:t>
            </a:r>
          </a:p>
          <a:p>
            <a:pPr>
              <a:spcAft>
                <a:spcPts val="500"/>
              </a:spcAft>
              <a:defRPr sz="1100">
                <a:solidFill>
                  <a:srgbClr val="1E293B"/>
                </a:solidFill>
              </a:defRPr>
            </a:pPr>
            <a:r>
              <a:t>•  Ý nghĩa kỹ thuật: Cho phép sử dụng toàn bộ các cấu trúc chỉ mục L2 (như IndexIVFPQ) trên FAISS mà vẫn bảo toàn 100% bản chất so khớp góc của ArcFace.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E7490"/>
                </a:solidFill>
              </a:defRPr>
            </a:pPr>
            <a:r>
              <a:t>ĐỒ ÁN PHÂN TÍCH DỮ LIỆU LỚN - NHẬN DIỆN KHUÔN MẶT ĐA CAMERA</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defRPr>
            </a:pPr>
            <a:r>
              <a:t>Tầng 3: Phân cụm Đảo ngược (IVF) và Lượng tử hóa Tích (PQ)</a:t>
            </a:r>
          </a:p>
        </p:txBody>
      </p:sp>
      <p:sp>
        <p:nvSpPr>
          <p:cNvPr id="4" name="Rounded Rectangle 3"/>
          <p:cNvSpPr/>
          <p:nvPr/>
        </p:nvSpPr>
        <p:spPr>
          <a:xfrm>
            <a:off x="7315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E7490"/>
                </a:solidFill>
              </a:defRPr>
            </a:pPr>
            <a:r>
              <a:t>Inverted File (IVF) - Phân cụm Voronoi</a:t>
            </a:r>
          </a:p>
          <a:p>
            <a:pPr>
              <a:spcAft>
                <a:spcPts val="500"/>
              </a:spcAft>
              <a:defRPr sz="1100">
                <a:solidFill>
                  <a:srgbClr val="1E293B"/>
                </a:solidFill>
              </a:defRPr>
            </a:pPr>
            <a:r>
              <a:t>•  Sử dụng K-Means chia không gian thành nlist = 1024 cụm Voronoi.</a:t>
            </a:r>
          </a:p>
          <a:p>
            <a:pPr>
              <a:spcAft>
                <a:spcPts val="500"/>
              </a:spcAft>
              <a:defRPr sz="1100">
                <a:solidFill>
                  <a:srgbClr val="1E293B"/>
                </a:solidFill>
              </a:defRPr>
            </a:pPr>
            <a:r>
              <a:t>•  Khi truy vấn: Chỉ quét nprobe cụm lân cận thay vì toàn bộ cơ sở dữ liệu.</a:t>
            </a:r>
          </a:p>
          <a:p>
            <a:pPr>
              <a:spcAft>
                <a:spcPts val="500"/>
              </a:spcAft>
              <a:defRPr sz="1100">
                <a:solidFill>
                  <a:srgbClr val="1E293B"/>
                </a:solidFill>
              </a:defRPr>
            </a:pPr>
            <a:r>
              <a:t>•  Giảm không gian tìm kiếm xuống (nprobe / nlist) = (16 / 1024) = 1.56% số lượng vector.</a:t>
            </a:r>
          </a:p>
        </p:txBody>
      </p:sp>
      <p:sp>
        <p:nvSpPr>
          <p:cNvPr id="5" name="Rounded Rectangle 4"/>
          <p:cNvSpPr/>
          <p:nvPr/>
        </p:nvSpPr>
        <p:spPr>
          <a:xfrm>
            <a:off x="62179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E7490"/>
                </a:solidFill>
              </a:defRPr>
            </a:pPr>
            <a:r>
              <a:t>Product Quantization (PQ) - Nén RAM 32 Lần</a:t>
            </a:r>
          </a:p>
          <a:p>
            <a:pPr>
              <a:spcAft>
                <a:spcPts val="500"/>
              </a:spcAft>
              <a:defRPr sz="1100">
                <a:solidFill>
                  <a:srgbClr val="1E293B"/>
                </a:solidFill>
              </a:defRPr>
            </a:pPr>
            <a:r>
              <a:t>•  Chia không gian ℝ⁵¹² thành m = 64 không gian con 8 chiều.</a:t>
            </a:r>
          </a:p>
          <a:p>
            <a:pPr>
              <a:spcAft>
                <a:spcPts val="500"/>
              </a:spcAft>
              <a:defRPr sz="1100">
                <a:solidFill>
                  <a:srgbClr val="1E293B"/>
                </a:solidFill>
              </a:defRPr>
            </a:pPr>
            <a:r>
              <a:t>•  Mỗi không gian con học 256 centroids (mã hóa bằng 8-bit = 1 byte).</a:t>
            </a:r>
          </a:p>
          <a:p>
            <a:pPr>
              <a:spcAft>
                <a:spcPts val="500"/>
              </a:spcAft>
              <a:defRPr sz="1100">
                <a:solidFill>
                  <a:srgbClr val="1E293B"/>
                </a:solidFill>
              </a:defRPr>
            </a:pPr>
            <a:r>
              <a:t>•  Mỗi vector 2.048 bytes được nén thành chuỗi 64 bytes =&gt; Tỷ lệ nén đúng 32 lần!</a:t>
            </a:r>
          </a:p>
          <a:p>
            <a:pPr>
              <a:spcAft>
                <a:spcPts val="500"/>
              </a:spcAft>
              <a:defRPr sz="1100">
                <a:solidFill>
                  <a:srgbClr val="1E293B"/>
                </a:solidFill>
              </a:defRPr>
            </a:pPr>
            <a:r>
              <a:t>•  Tra cứu Asymmetric Distance Computation (ADC) qua bảng tính sẵn, tốc độ cực nhanh.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E7490"/>
                </a:solidFill>
              </a:defRPr>
            </a:pPr>
            <a:r>
              <a:t>ĐỒ ÁN PHÂN TÍCH DỮ LIỆU LỚN - NHẬN DIỆN KHUÔN MẶT ĐA CAMERA</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defRPr>
            </a:pPr>
            <a:r>
              <a:t>Tầng 3: Cấu trúc Đồ thị Phân cấp Thế giới nhỏ (HNSW)</a:t>
            </a:r>
          </a:p>
        </p:txBody>
      </p:sp>
      <p:sp>
        <p:nvSpPr>
          <p:cNvPr id="4" name="Rounded Rectangle 3"/>
          <p:cNvSpPr/>
          <p:nvPr/>
        </p:nvSpPr>
        <p:spPr>
          <a:xfrm>
            <a:off x="7315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E7490"/>
                </a:solidFill>
              </a:defRPr>
            </a:pPr>
            <a:r>
              <a:t>Nguyên lý Hoạt động của HNSW</a:t>
            </a:r>
          </a:p>
          <a:p>
            <a:pPr>
              <a:spcAft>
                <a:spcPts val="500"/>
              </a:spcAft>
              <a:defRPr sz="1100">
                <a:solidFill>
                  <a:srgbClr val="1E293B"/>
                </a:solidFill>
              </a:defRPr>
            </a:pPr>
            <a:r>
              <a:t>•  Xây dựng đồ thị phân tầng tương tự Skip-List: Tầng cao liên kết xa, tầng thấp liên kết gần.</a:t>
            </a:r>
          </a:p>
          <a:p>
            <a:pPr>
              <a:spcAft>
                <a:spcPts val="500"/>
              </a:spcAft>
              <a:defRPr sz="1100">
                <a:solidFill>
                  <a:srgbClr val="1E293B"/>
                </a:solidFill>
              </a:defRPr>
            </a:pPr>
            <a:r>
              <a:t>•  Tìm kiếm tham lam (Greedy Search): Nhảy nhanh ở tầng trên để tiếp cận vùng lân cận, sau đó đi xuống tầng đáy.</a:t>
            </a:r>
          </a:p>
          <a:p>
            <a:pPr>
              <a:spcAft>
                <a:spcPts val="500"/>
              </a:spcAft>
              <a:defRPr sz="1100">
                <a:solidFill>
                  <a:srgbClr val="1E293B"/>
                </a:solidFill>
              </a:defRPr>
            </a:pPr>
            <a:r>
              <a:t>•  Độ phức tạp tìm kiếm đạt mức cận logarit O(log N).</a:t>
            </a:r>
          </a:p>
        </p:txBody>
      </p:sp>
      <p:sp>
        <p:nvSpPr>
          <p:cNvPr id="5" name="Rounded Rectangle 4"/>
          <p:cNvSpPr/>
          <p:nvPr/>
        </p:nvSpPr>
        <p:spPr>
          <a:xfrm>
            <a:off x="62179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E7490"/>
                </a:solidFill>
              </a:defRPr>
            </a:pPr>
            <a:r>
              <a:t>Đặc tính và So sánh với IVF-PQ</a:t>
            </a:r>
          </a:p>
          <a:p>
            <a:pPr>
              <a:spcAft>
                <a:spcPts val="500"/>
              </a:spcAft>
              <a:defRPr sz="1100">
                <a:solidFill>
                  <a:srgbClr val="1E293B"/>
                </a:solidFill>
              </a:defRPr>
            </a:pPr>
            <a:r>
              <a:t>•  Tham số cấu hình: M = 32 (số cạnh liên kết mỗi đỉnh), efSearch = 64.</a:t>
            </a:r>
          </a:p>
          <a:p>
            <a:pPr>
              <a:spcAft>
                <a:spcPts val="500"/>
              </a:spcAft>
              <a:defRPr sz="1100">
                <a:solidFill>
                  <a:srgbClr val="1E293B"/>
                </a:solidFill>
              </a:defRPr>
            </a:pPr>
            <a:r>
              <a:t>•  Ưu điểm: Đạt độ chính xác Recall@1 cao nhất trong các thuật toán ANN.</a:t>
            </a:r>
          </a:p>
          <a:p>
            <a:pPr>
              <a:spcAft>
                <a:spcPts val="500"/>
              </a:spcAft>
              <a:defRPr sz="1100">
                <a:solidFill>
                  <a:srgbClr val="1E293B"/>
                </a:solidFill>
              </a:defRPr>
            </a:pPr>
            <a:r>
              <a:t>•  Nhược điểm: Tốn thêm bộ nhớ RAM để lưu trữ danh sách cạnh đồ thị (tăng ~28% so với Flat).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E7490"/>
                </a:solidFill>
              </a:defRPr>
            </a:pPr>
            <a:r>
              <a:t>ĐỒ ÁN PHÂN TÍCH DỮ LIỆU LỚN - NHẬN DIỆN KHUÔN MẶT ĐA CAMERA</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defRPr>
            </a:pPr>
            <a:r>
              <a:t>Tầng 4: Xử lý Luồng Spark Streaming &amp; Khử Trùng Lặp Trạng thái</a:t>
            </a:r>
          </a:p>
        </p:txBody>
      </p:sp>
      <p:sp>
        <p:nvSpPr>
          <p:cNvPr id="4" name="Rounded Rectangle 3"/>
          <p:cNvSpPr/>
          <p:nvPr/>
        </p:nvSpPr>
        <p:spPr>
          <a:xfrm>
            <a:off x="7315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E7490"/>
                </a:solidFill>
              </a:defRPr>
            </a:pPr>
            <a:r>
              <a:t>Kafka Ingestion &amp; Watermarking</a:t>
            </a:r>
          </a:p>
          <a:p>
            <a:pPr>
              <a:spcAft>
                <a:spcPts val="500"/>
              </a:spcAft>
              <a:defRPr sz="1100">
                <a:solidFill>
                  <a:srgbClr val="1E293B"/>
                </a:solidFill>
              </a:defRPr>
            </a:pPr>
            <a:r>
              <a:t>•  Khóa phân vùng MurmurHash2(CameraID) đảm bảo thứ tự thời gian cho từng camera.</a:t>
            </a:r>
          </a:p>
          <a:p>
            <a:pPr>
              <a:spcAft>
                <a:spcPts val="500"/>
              </a:spcAft>
              <a:defRPr sz="1100">
                <a:solidFill>
                  <a:srgbClr val="1E293B"/>
                </a:solidFill>
              </a:defRPr>
            </a:pPr>
            <a:r>
              <a:t>•  Spark Micro-batching với chu kỳ 1 giây.</a:t>
            </a:r>
          </a:p>
          <a:p>
            <a:pPr>
              <a:spcAft>
                <a:spcPts val="500"/>
              </a:spcAft>
              <a:defRPr sz="1100">
                <a:solidFill>
                  <a:srgbClr val="1E293B"/>
                </a:solidFill>
              </a:defRPr>
            </a:pPr>
            <a:r>
              <a:t>•  Cơ chế Watermarking 10 phút: wm = max(event_time) - 10m, tự động giải phóng trạng thái cũ.</a:t>
            </a:r>
          </a:p>
        </p:txBody>
      </p:sp>
      <p:sp>
        <p:nvSpPr>
          <p:cNvPr id="5" name="Rounded Rectangle 4"/>
          <p:cNvSpPr/>
          <p:nvPr/>
        </p:nvSpPr>
        <p:spPr>
          <a:xfrm>
            <a:off x="62179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E7490"/>
                </a:solidFill>
              </a:defRPr>
            </a:pPr>
            <a:r>
              <a:t>Stateful Deduplication &amp; Parquet Lake</a:t>
            </a:r>
          </a:p>
          <a:p>
            <a:pPr>
              <a:spcAft>
                <a:spcPts val="500"/>
              </a:spcAft>
              <a:defRPr sz="1100">
                <a:solidFill>
                  <a:srgbClr val="1E293B"/>
                </a:solidFill>
              </a:defRPr>
            </a:pPr>
            <a:r>
              <a:t>•  Thuật toán khử trùng lặp có trạng thái: Gom các sự kiện của cùng 1 người trên 1 camera trong 5 giây.</a:t>
            </a:r>
          </a:p>
          <a:p>
            <a:pPr>
              <a:spcAft>
                <a:spcPts val="500"/>
              </a:spcAft>
              <a:defRPr sz="1100">
                <a:solidFill>
                  <a:srgbClr val="1E293B"/>
                </a:solidFill>
              </a:defRPr>
            </a:pPr>
            <a:r>
              <a:t>•  Giảm hơn 80% tải ghi dữ liệu không cần thiết xuống đĩa.</a:t>
            </a:r>
          </a:p>
          <a:p>
            <a:pPr>
              <a:spcAft>
                <a:spcPts val="500"/>
              </a:spcAft>
              <a:defRPr sz="1100">
                <a:solidFill>
                  <a:srgbClr val="1E293B"/>
                </a:solidFill>
              </a:defRPr>
            </a:pPr>
            <a:r>
              <a:t>•  Ghi xuống Data Lake Parquet nén Snappy phân vùng theo Zone/Date, sẵn sàng cho truy vấn SQL.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E7490"/>
                </a:solidFill>
              </a:defRPr>
            </a:pPr>
            <a:r>
              <a:t>ĐỒ ÁN PHÂN TÍCH DỮ LIỆU LỚN - NHẬN DIỆN KHUÔN MẶT ĐA CAMERA</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defRPr>
            </a:pPr>
            <a:r>
              <a:t>Môi trường Phần cứng &amp; 3 Bộ Dữ liệu Thực nghiệm</a:t>
            </a:r>
          </a:p>
        </p:txBody>
      </p:sp>
      <p:sp>
        <p:nvSpPr>
          <p:cNvPr id="4" name="Rounded Rectangle 3"/>
          <p:cNvSpPr/>
          <p:nvPr/>
        </p:nvSpPr>
        <p:spPr>
          <a:xfrm>
            <a:off x="731520" y="1645920"/>
            <a:ext cx="32918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E7490"/>
                </a:solidFill>
              </a:defRPr>
            </a:pPr>
            <a:r>
              <a:t>Môi trường Kiểm thử</a:t>
            </a:r>
          </a:p>
          <a:p>
            <a:pPr>
              <a:spcAft>
                <a:spcPts val="500"/>
              </a:spcAft>
              <a:defRPr sz="1100">
                <a:solidFill>
                  <a:srgbClr val="1E293B"/>
                </a:solidFill>
              </a:defRPr>
            </a:pPr>
            <a:r>
              <a:t>•  CPU: Intel Core i7 16-Threads / RAM 32 GB / GPU NVIDIA RTX.</a:t>
            </a:r>
          </a:p>
          <a:p>
            <a:pPr>
              <a:spcAft>
                <a:spcPts val="500"/>
              </a:spcAft>
              <a:defRPr sz="1100">
                <a:solidFill>
                  <a:srgbClr val="1E293B"/>
                </a:solidFill>
              </a:defRPr>
            </a:pPr>
            <a:r>
              <a:t>•  Hệ sinh thái: Python 3.14, FAISS 1.15, PySpark 3.5, PyArrow 25.</a:t>
            </a:r>
          </a:p>
          <a:p>
            <a:pPr>
              <a:spcAft>
                <a:spcPts val="500"/>
              </a:spcAft>
              <a:defRPr sz="1100">
                <a:solidFill>
                  <a:srgbClr val="1E293B"/>
                </a:solidFill>
              </a:defRPr>
            </a:pPr>
            <a:r>
              <a:t>•  Hỗ trợ tập lệnh SIMD AVX2 tối ưu hóa tính toán ma trận.</a:t>
            </a:r>
          </a:p>
        </p:txBody>
      </p:sp>
      <p:sp>
        <p:nvSpPr>
          <p:cNvPr id="5" name="Rounded Rectangle 4"/>
          <p:cNvSpPr/>
          <p:nvPr/>
        </p:nvSpPr>
        <p:spPr>
          <a:xfrm>
            <a:off x="4389120" y="1645920"/>
            <a:ext cx="32918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E7490"/>
                </a:solidFill>
              </a:defRPr>
            </a:pPr>
            <a:r>
              <a:t>Dataset A &amp; Dataset B</a:t>
            </a:r>
          </a:p>
          <a:p>
            <a:pPr>
              <a:spcAft>
                <a:spcPts val="500"/>
              </a:spcAft>
              <a:defRPr sz="1100">
                <a:solidFill>
                  <a:srgbClr val="1E293B"/>
                </a:solidFill>
              </a:defRPr>
            </a:pPr>
            <a:r>
              <a:t>•  Dataset A: Tập kiểm thử nhận diện khuôn mặt đa camera (góc sáng, mờ chuyển động).</a:t>
            </a:r>
          </a:p>
          <a:p>
            <a:pPr>
              <a:spcAft>
                <a:spcPts val="500"/>
              </a:spcAft>
              <a:defRPr sz="1100">
                <a:solidFill>
                  <a:srgbClr val="1E293B"/>
                </a:solidFill>
              </a:defRPr>
            </a:pPr>
            <a:r>
              <a:t>•  Dataset B: Bộ vector 512-D L2-Normalized ở 4 mốc: 10K, 100K, 500K, 1M vectors.</a:t>
            </a:r>
          </a:p>
          <a:p>
            <a:pPr>
              <a:spcAft>
                <a:spcPts val="500"/>
              </a:spcAft>
              <a:defRPr sz="1100">
                <a:solidFill>
                  <a:srgbClr val="1E293B"/>
                </a:solidFill>
              </a:defRPr>
            </a:pPr>
            <a:r>
              <a:t>•  Kích thước mốc 1M vector thô: 2.048 MB.</a:t>
            </a:r>
          </a:p>
        </p:txBody>
      </p:sp>
      <p:sp>
        <p:nvSpPr>
          <p:cNvPr id="6" name="Rounded Rectangle 5"/>
          <p:cNvSpPr/>
          <p:nvPr/>
        </p:nvSpPr>
        <p:spPr>
          <a:xfrm>
            <a:off x="8046720" y="1645920"/>
            <a:ext cx="32918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E7490"/>
                </a:solidFill>
              </a:defRPr>
            </a:pPr>
            <a:r>
              <a:t>Dataset C (Event Logs)</a:t>
            </a:r>
          </a:p>
          <a:p>
            <a:pPr>
              <a:spcAft>
                <a:spcPts val="500"/>
              </a:spcAft>
              <a:defRPr sz="1100">
                <a:solidFill>
                  <a:srgbClr val="1E293B"/>
                </a:solidFill>
              </a:defRPr>
            </a:pPr>
            <a:r>
              <a:t>•  500.000 đến 5.000.000 bản ghi sự kiện nhận diện đa camera.</a:t>
            </a:r>
          </a:p>
          <a:p>
            <a:pPr>
              <a:spcAft>
                <a:spcPts val="500"/>
              </a:spcAft>
              <a:defRPr sz="1100">
                <a:solidFill>
                  <a:srgbClr val="1E293B"/>
                </a:solidFill>
              </a:defRPr>
            </a:pPr>
            <a:r>
              <a:t>•  Schema 9 trường thuộc tính: event_id, timestamp, zone_id, camera_id, person_id, similarity...</a:t>
            </a:r>
          </a:p>
          <a:p>
            <a:pPr>
              <a:spcAft>
                <a:spcPts val="500"/>
              </a:spcAft>
              <a:defRPr sz="1100">
                <a:solidFill>
                  <a:srgbClr val="1E293B"/>
                </a:solidFill>
              </a:defRPr>
            </a:pPr>
            <a:r>
              <a:t>•  Phục vụ benchmark Kafka, Spark và Data Lake Parquet.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E7490"/>
                </a:solidFill>
              </a:defRPr>
            </a:pPr>
            <a:r>
              <a:t>ĐỒ ÁN PHÂN TÍCH DỮ LIỆU LỚN - NHẬN DIỆN KHUÔN MẶT ĐA CAMERA</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defRPr>
            </a:pPr>
            <a:r>
              <a:t>Quy trình Tiền xử lý Dữ liệu 4 bước (Data Preprocessing Pipeline)</a:t>
            </a:r>
          </a:p>
        </p:txBody>
      </p:sp>
      <p:sp>
        <p:nvSpPr>
          <p:cNvPr id="4" name="Rounded Rectangle 3"/>
          <p:cNvSpPr/>
          <p:nvPr/>
        </p:nvSpPr>
        <p:spPr>
          <a:xfrm>
            <a:off x="731520" y="1645920"/>
            <a:ext cx="246888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E7490"/>
                </a:solidFill>
              </a:defRPr>
            </a:pPr>
            <a:r>
              <a:t>Bước 1: Lọc Laplacian</a:t>
            </a:r>
          </a:p>
          <a:p>
            <a:pPr>
              <a:spcAft>
                <a:spcPts val="500"/>
              </a:spcAft>
              <a:defRPr sz="1100">
                <a:solidFill>
                  <a:srgbClr val="1E293B"/>
                </a:solidFill>
              </a:defRPr>
            </a:pPr>
            <a:r>
              <a:t>•  Chuyển ảnh xám.</a:t>
            </a:r>
          </a:p>
          <a:p>
            <a:pPr>
              <a:spcAft>
                <a:spcPts val="500"/>
              </a:spcAft>
              <a:defRPr sz="1100">
                <a:solidFill>
                  <a:srgbClr val="1E293B"/>
                </a:solidFill>
              </a:defRPr>
            </a:pPr>
            <a:r>
              <a:t>•  Tính phương sai Laplacian.</a:t>
            </a:r>
          </a:p>
          <a:p>
            <a:pPr>
              <a:spcAft>
                <a:spcPts val="500"/>
              </a:spcAft>
              <a:defRPr sz="1100">
                <a:solidFill>
                  <a:srgbClr val="1E293B"/>
                </a:solidFill>
              </a:defRPr>
            </a:pPr>
            <a:r>
              <a:t>•  Loại bỏ nếu σ² &lt; 120.</a:t>
            </a:r>
          </a:p>
          <a:p>
            <a:pPr>
              <a:spcAft>
                <a:spcPts val="500"/>
              </a:spcAft>
              <a:defRPr sz="1100">
                <a:solidFill>
                  <a:srgbClr val="1E293B"/>
                </a:solidFill>
              </a:defRPr>
            </a:pPr>
            <a:r>
              <a:t>•  Tiết kiệm 60% tải trích xuất AI.</a:t>
            </a:r>
          </a:p>
        </p:txBody>
      </p:sp>
      <p:sp>
        <p:nvSpPr>
          <p:cNvPr id="5" name="Rounded Rectangle 4"/>
          <p:cNvSpPr/>
          <p:nvPr/>
        </p:nvSpPr>
        <p:spPr>
          <a:xfrm>
            <a:off x="3383280" y="1645920"/>
            <a:ext cx="246888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E7490"/>
                </a:solidFill>
              </a:defRPr>
            </a:pPr>
            <a:r>
              <a:t>Bước 2: Căn chỉnh Affine</a:t>
            </a:r>
          </a:p>
          <a:p>
            <a:pPr>
              <a:spcAft>
                <a:spcPts val="500"/>
              </a:spcAft>
              <a:defRPr sz="1100">
                <a:solidFill>
                  <a:srgbClr val="1E293B"/>
                </a:solidFill>
              </a:defRPr>
            </a:pPr>
            <a:r>
              <a:t>•  Định vị 5 điểm mốc.</a:t>
            </a:r>
          </a:p>
          <a:p>
            <a:pPr>
              <a:spcAft>
                <a:spcPts val="500"/>
              </a:spcAft>
              <a:defRPr sz="1100">
                <a:solidFill>
                  <a:srgbClr val="1E293B"/>
                </a:solidFill>
              </a:defRPr>
            </a:pPr>
            <a:r>
              <a:t>•  Giải Least Squares tìm ma trận M.</a:t>
            </a:r>
          </a:p>
          <a:p>
            <a:pPr>
              <a:spcAft>
                <a:spcPts val="500"/>
              </a:spcAft>
              <a:defRPr sz="1100">
                <a:solidFill>
                  <a:srgbClr val="1E293B"/>
                </a:solidFill>
              </a:defRPr>
            </a:pPr>
            <a:r>
              <a:t>•  Warp affine về 112x112.</a:t>
            </a:r>
          </a:p>
          <a:p>
            <a:pPr>
              <a:spcAft>
                <a:spcPts val="500"/>
              </a:spcAft>
              <a:defRPr sz="1100">
                <a:solidFill>
                  <a:srgbClr val="1E293B"/>
                </a:solidFill>
              </a:defRPr>
            </a:pPr>
            <a:r>
              <a:t>•  Bất biến góc nghiêng đầu.</a:t>
            </a:r>
          </a:p>
        </p:txBody>
      </p:sp>
      <p:sp>
        <p:nvSpPr>
          <p:cNvPr id="6" name="Rounded Rectangle 5"/>
          <p:cNvSpPr/>
          <p:nvPr/>
        </p:nvSpPr>
        <p:spPr>
          <a:xfrm>
            <a:off x="6035040" y="1645920"/>
            <a:ext cx="246888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E7490"/>
                </a:solidFill>
              </a:defRPr>
            </a:pPr>
            <a:r>
              <a:t>Bước 3: Chuẩn hóa L2</a:t>
            </a:r>
          </a:p>
          <a:p>
            <a:pPr>
              <a:spcAft>
                <a:spcPts val="500"/>
              </a:spcAft>
              <a:defRPr sz="1100">
                <a:solidFill>
                  <a:srgbClr val="1E293B"/>
                </a:solidFill>
              </a:defRPr>
            </a:pPr>
            <a:r>
              <a:t>•  Mô hình ArcFace xuất vector 512D.</a:t>
            </a:r>
          </a:p>
          <a:p>
            <a:pPr>
              <a:spcAft>
                <a:spcPts val="500"/>
              </a:spcAft>
              <a:defRPr sz="1100">
                <a:solidFill>
                  <a:srgbClr val="1E293B"/>
                </a:solidFill>
              </a:defRPr>
            </a:pPr>
            <a:r>
              <a:t>•  Chuẩn hóa: v = v / ||v||₂.</a:t>
            </a:r>
          </a:p>
          <a:p>
            <a:pPr>
              <a:spcAft>
                <a:spcPts val="500"/>
              </a:spcAft>
              <a:defRPr sz="1100">
                <a:solidFill>
                  <a:srgbClr val="1E293B"/>
                </a:solidFill>
              </a:defRPr>
            </a:pPr>
            <a:r>
              <a:t>•  Đưa vector về siêu cầu S⁵¹¹.</a:t>
            </a:r>
          </a:p>
          <a:p>
            <a:pPr>
              <a:spcAft>
                <a:spcPts val="500"/>
              </a:spcAft>
              <a:defRPr sz="1100">
                <a:solidFill>
                  <a:srgbClr val="1E293B"/>
                </a:solidFill>
              </a:defRPr>
            </a:pPr>
            <a:r>
              <a:t>•  Sẵn sàng cho Inner Product.</a:t>
            </a:r>
          </a:p>
        </p:txBody>
      </p:sp>
      <p:sp>
        <p:nvSpPr>
          <p:cNvPr id="7" name="Rounded Rectangle 6"/>
          <p:cNvSpPr/>
          <p:nvPr/>
        </p:nvSpPr>
        <p:spPr>
          <a:xfrm>
            <a:off x="8686800" y="1645920"/>
            <a:ext cx="246888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E7490"/>
                </a:solidFill>
              </a:defRPr>
            </a:pPr>
            <a:r>
              <a:t>Bước 4: Ép kiểu Schema</a:t>
            </a:r>
          </a:p>
          <a:p>
            <a:pPr>
              <a:spcAft>
                <a:spcPts val="500"/>
              </a:spcAft>
              <a:defRPr sz="1100">
                <a:solidFill>
                  <a:srgbClr val="1E293B"/>
                </a:solidFill>
              </a:defRPr>
            </a:pPr>
            <a:r>
              <a:t>•  Tạo StructType trên Spark.</a:t>
            </a:r>
          </a:p>
          <a:p>
            <a:pPr>
              <a:spcAft>
                <a:spcPts val="500"/>
              </a:spcAft>
              <a:defRPr sz="1100">
                <a:solidFill>
                  <a:srgbClr val="1E293B"/>
                </a:solidFill>
              </a:defRPr>
            </a:pPr>
            <a:r>
              <a:t>•  Ép kiểu Timestamp, String, Float.</a:t>
            </a:r>
          </a:p>
          <a:p>
            <a:pPr>
              <a:spcAft>
                <a:spcPts val="500"/>
              </a:spcAft>
              <a:defRPr sz="1100">
                <a:solidFill>
                  <a:srgbClr val="1E293B"/>
                </a:solidFill>
              </a:defRPr>
            </a:pPr>
            <a:r>
              <a:t>•  Loại bỏ bản ghi lỗi / null.</a:t>
            </a:r>
          </a:p>
          <a:p>
            <a:pPr>
              <a:spcAft>
                <a:spcPts val="500"/>
              </a:spcAft>
              <a:defRPr sz="1100">
                <a:solidFill>
                  <a:srgbClr val="1E293B"/>
                </a:solidFill>
              </a:defRPr>
            </a:pPr>
            <a:r>
              <a:t>•  Tối ưu lưu trữ cột Parquet.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E7490"/>
                </a:solidFill>
              </a:defRPr>
            </a:pPr>
            <a:r>
              <a:t>ĐỒ ÁN PHÂN TÍCH DỮ LIỆU LỚN - NHẬN DIỆN KHUÔN MẶT ĐA CAMERA</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defRPr>
            </a:pPr>
            <a:r>
              <a:t>Kịch bản 1: Đánh giá TAR, FAR và Lựa chọn Ngưỡng Cosine</a:t>
            </a:r>
          </a:p>
        </p:txBody>
      </p:sp>
      <p:pic>
        <p:nvPicPr>
          <p:cNvPr id="4" name="Picture 3" descr="fig2_roc_tar_far_curve.png"/>
          <p:cNvPicPr>
            <a:picLocks noChangeAspect="1"/>
          </p:cNvPicPr>
          <p:nvPr/>
        </p:nvPicPr>
        <p:blipFill>
          <a:blip r:embed="rId2"/>
          <a:stretch>
            <a:fillRect/>
          </a:stretch>
        </p:blipFill>
        <p:spPr>
          <a:xfrm>
            <a:off x="731520" y="1554480"/>
            <a:ext cx="6583680" cy="3840480"/>
          </a:xfrm>
          <a:prstGeom prst="rect">
            <a:avLst/>
          </a:prstGeom>
        </p:spPr>
      </p:pic>
      <p:sp>
        <p:nvSpPr>
          <p:cNvPr id="5" name="Rounded Rectangle 4"/>
          <p:cNvSpPr/>
          <p:nvPr/>
        </p:nvSpPr>
        <p:spPr>
          <a:xfrm>
            <a:off x="7589520" y="1554480"/>
            <a:ext cx="38404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E7490"/>
                </a:solidFill>
              </a:defRPr>
            </a:pPr>
            <a:r>
              <a:t>Phân tích Kết quả Ngưỡng τ</a:t>
            </a:r>
          </a:p>
          <a:p>
            <a:pPr>
              <a:spcAft>
                <a:spcPts val="500"/>
              </a:spcAft>
              <a:defRPr sz="1100">
                <a:solidFill>
                  <a:srgbClr val="1E293B"/>
                </a:solidFill>
              </a:defRPr>
            </a:pPr>
            <a:r>
              <a:t>•  Tại τ = 0.40: TAR rất cao (98.6%) nhưng FAR lên tới 0.48% (quá nhiều kẻ giả mạo).</a:t>
            </a:r>
          </a:p>
          <a:p>
            <a:pPr>
              <a:spcAft>
                <a:spcPts val="500"/>
              </a:spcAft>
              <a:defRPr sz="1100">
                <a:solidFill>
                  <a:srgbClr val="1E293B"/>
                </a:solidFill>
              </a:defRPr>
            </a:pPr>
            <a:r>
              <a:t>•  Tại τ = 0.60: FAR cực thấp (0.0008%) nhưng TAR tụt xuống 78.4% (bỏ sót nhiều người hợp lệ).</a:t>
            </a:r>
          </a:p>
          <a:p>
            <a:pPr>
              <a:spcAft>
                <a:spcPts val="500"/>
              </a:spcAft>
              <a:defRPr sz="1100">
                <a:solidFill>
                  <a:srgbClr val="1E293B"/>
                </a:solidFill>
              </a:defRPr>
            </a:pPr>
            <a:r>
              <a:t>•  Điểm tối ưu đề xuất: τ = 0.50.</a:t>
            </a:r>
          </a:p>
          <a:p>
            <a:pPr>
              <a:spcAft>
                <a:spcPts val="500"/>
              </a:spcAft>
              <a:defRPr sz="1100">
                <a:solidFill>
                  <a:srgbClr val="1E293B"/>
                </a:solidFill>
              </a:defRPr>
            </a:pPr>
            <a:r>
              <a:t>•  TAR đạt 92.54% trong điều kiện khác camera thực tế.</a:t>
            </a:r>
          </a:p>
          <a:p>
            <a:pPr>
              <a:spcAft>
                <a:spcPts val="500"/>
              </a:spcAft>
              <a:defRPr sz="1100">
                <a:solidFill>
                  <a:srgbClr val="1E293B"/>
                </a:solidFill>
              </a:defRPr>
            </a:pPr>
            <a:r>
              <a:t>•  FAR chỉ là 0.021% (chỉ 2 trên 10.000 lần thử).</a:t>
            </a:r>
          </a:p>
          <a:p>
            <a:pPr>
              <a:spcAft>
                <a:spcPts val="500"/>
              </a:spcAft>
              <a:defRPr sz="1100">
                <a:solidFill>
                  <a:srgbClr val="1E293B"/>
                </a:solidFill>
              </a:defRPr>
            </a:pPr>
            <a:r>
              <a:t>•  Đây là ngưỡng vàng triển khai cho toàn bộ hệ thống.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E7490"/>
                </a:solidFill>
              </a:defRPr>
            </a:pPr>
            <a:r>
              <a:t>ĐỒ ÁN PHÂN TÍCH DỮ LIỆU LỚN - NHẬN DIỆN KHUÔN MẶT ĐA CAMERA</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defRPr>
            </a:pPr>
            <a:r>
              <a:t>Kịch bản 2: Khả năng Mở rộng Chỉ mục FAISS từ 10K đến 1 Triệu Vector</a:t>
            </a:r>
          </a:p>
        </p:txBody>
      </p:sp>
      <p:pic>
        <p:nvPicPr>
          <p:cNvPr id="4" name="Picture 3" descr="fig3_latency_qps_scaling.png"/>
          <p:cNvPicPr>
            <a:picLocks noChangeAspect="1"/>
          </p:cNvPicPr>
          <p:nvPr/>
        </p:nvPicPr>
        <p:blipFill>
          <a:blip r:embed="rId2"/>
          <a:stretch>
            <a:fillRect/>
          </a:stretch>
        </p:blipFill>
        <p:spPr>
          <a:xfrm>
            <a:off x="731520" y="1554480"/>
            <a:ext cx="6583680" cy="2500778"/>
          </a:xfrm>
          <a:prstGeom prst="rect">
            <a:avLst/>
          </a:prstGeom>
        </p:spPr>
      </p:pic>
      <p:sp>
        <p:nvSpPr>
          <p:cNvPr id="5" name="Rounded Rectangle 4"/>
          <p:cNvSpPr/>
          <p:nvPr/>
        </p:nvSpPr>
        <p:spPr>
          <a:xfrm>
            <a:off x="7589520" y="1554480"/>
            <a:ext cx="38404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E7490"/>
                </a:solidFill>
              </a:defRPr>
            </a:pPr>
            <a:r>
              <a:t>Hiệu năng tại Mốc 1.000.000 Vectors</a:t>
            </a:r>
          </a:p>
          <a:p>
            <a:pPr>
              <a:spcAft>
                <a:spcPts val="500"/>
              </a:spcAft>
              <a:defRPr sz="1100">
                <a:solidFill>
                  <a:srgbClr val="1E293B"/>
                </a:solidFill>
              </a:defRPr>
            </a:pPr>
            <a:r>
              <a:t>•  IndexFlatIP (Vét cạn): Latency vọt lên 42.5 ms, QPS tụt còn 23 queries/s.</a:t>
            </a:r>
          </a:p>
          <a:p>
            <a:pPr>
              <a:spcAft>
                <a:spcPts val="500"/>
              </a:spcAft>
              <a:defRPr sz="1100">
                <a:solidFill>
                  <a:srgbClr val="1E293B"/>
                </a:solidFill>
              </a:defRPr>
            </a:pPr>
            <a:r>
              <a:t>•  IndexIVFFlat: Latency 1.85 ms, QPS đạt 540 queries/s (nhanh gấp 23 lần).</a:t>
            </a:r>
          </a:p>
          <a:p>
            <a:pPr>
              <a:spcAft>
                <a:spcPts val="500"/>
              </a:spcAft>
              <a:defRPr sz="1100">
                <a:solidFill>
                  <a:srgbClr val="1E293B"/>
                </a:solidFill>
              </a:defRPr>
            </a:pPr>
            <a:r>
              <a:t>•  IndexIVFPQ: Latency chỉ 0.42 ms, QPS đạt 2.380 queries/s (nhanh gấp 100 lần!).</a:t>
            </a:r>
          </a:p>
          <a:p>
            <a:pPr>
              <a:spcAft>
                <a:spcPts val="500"/>
              </a:spcAft>
              <a:defRPr sz="1100">
                <a:solidFill>
                  <a:srgbClr val="1E293B"/>
                </a:solidFill>
              </a:defRPr>
            </a:pPr>
            <a:r>
              <a:t>•  IndexHNSW32: Latency 0.38 ms, QPS đạt 2.630 queries/s.</a:t>
            </a:r>
          </a:p>
          <a:p>
            <a:pPr>
              <a:spcAft>
                <a:spcPts val="500"/>
              </a:spcAft>
              <a:defRPr sz="1100">
                <a:solidFill>
                  <a:srgbClr val="1E293B"/>
                </a:solidFill>
              </a:defRPr>
            </a:pPr>
            <a:r>
              <a:t>•  IVFPQ và HNSW hoàn toàn đáp ứng thời gian thực dưới 1 ms trên hàng triệu khuôn mặt.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E7490"/>
                </a:solidFill>
              </a:defRPr>
            </a:pPr>
            <a:r>
              <a:t>ĐỒ ÁN PHÂN TÍCH DỮ LIỆU LỚN - NHẬN DIỆN KHUÔN MẶT ĐA CAMERA</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defRPr>
            </a:pPr>
            <a:r>
              <a:t>Hiệu quả Tiết kiệm 96% Bộ nhớ RAM của Lượng tử hóa Tích (IVF-PQ)</a:t>
            </a:r>
          </a:p>
        </p:txBody>
      </p:sp>
      <p:pic>
        <p:nvPicPr>
          <p:cNvPr id="4" name="Picture 3" descr="fig4_ram_consumption_comparison.png"/>
          <p:cNvPicPr>
            <a:picLocks noChangeAspect="1"/>
          </p:cNvPicPr>
          <p:nvPr/>
        </p:nvPicPr>
        <p:blipFill>
          <a:blip r:embed="rId2"/>
          <a:stretch>
            <a:fillRect/>
          </a:stretch>
        </p:blipFill>
        <p:spPr>
          <a:xfrm>
            <a:off x="731520" y="1554480"/>
            <a:ext cx="6583680" cy="3649325"/>
          </a:xfrm>
          <a:prstGeom prst="rect">
            <a:avLst/>
          </a:prstGeom>
        </p:spPr>
      </p:pic>
      <p:sp>
        <p:nvSpPr>
          <p:cNvPr id="5" name="Rounded Rectangle 4"/>
          <p:cNvSpPr/>
          <p:nvPr/>
        </p:nvSpPr>
        <p:spPr>
          <a:xfrm>
            <a:off x="7589520" y="1554480"/>
            <a:ext cx="38404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E7490"/>
                </a:solidFill>
              </a:defRPr>
            </a:pPr>
            <a:r>
              <a:t>Điểm Nhấn Tiết kiệm Tài nguyên</a:t>
            </a:r>
          </a:p>
          <a:p>
            <a:pPr>
              <a:spcAft>
                <a:spcPts val="500"/>
              </a:spcAft>
              <a:defRPr sz="1100">
                <a:solidFill>
                  <a:srgbClr val="1E293B"/>
                </a:solidFill>
              </a:defRPr>
            </a:pPr>
            <a:r>
              <a:t>•  Tại quy mô 1.000.000 vector 512 chiều:</a:t>
            </a:r>
          </a:p>
          <a:p>
            <a:pPr>
              <a:spcAft>
                <a:spcPts val="500"/>
              </a:spcAft>
              <a:defRPr sz="1100">
                <a:solidFill>
                  <a:srgbClr val="1E293B"/>
                </a:solidFill>
              </a:defRPr>
            </a:pPr>
            <a:r>
              <a:t>•  • FlatIP tiêu tốn: 2.048 MB RAM.</a:t>
            </a:r>
          </a:p>
          <a:p>
            <a:pPr>
              <a:spcAft>
                <a:spcPts val="500"/>
              </a:spcAft>
              <a:defRPr sz="1100">
                <a:solidFill>
                  <a:srgbClr val="1E293B"/>
                </a:solidFill>
              </a:defRPr>
            </a:pPr>
            <a:r>
              <a:t>•  • HNSW tiêu tốn: 2.621 MB RAM (do lưu đồ thị).</a:t>
            </a:r>
          </a:p>
          <a:p>
            <a:pPr>
              <a:spcAft>
                <a:spcPts val="500"/>
              </a:spcAft>
              <a:defRPr sz="1100">
                <a:solidFill>
                  <a:srgbClr val="1E293B"/>
                </a:solidFill>
              </a:defRPr>
            </a:pPr>
            <a:r>
              <a:t>•  • IVFPQ tiêu tốn chỉ: 76.2 MB RAM!</a:t>
            </a:r>
          </a:p>
          <a:p>
            <a:pPr>
              <a:spcAft>
                <a:spcPts val="500"/>
              </a:spcAft>
              <a:defRPr sz="1100">
                <a:solidFill>
                  <a:srgbClr val="1E293B"/>
                </a:solidFill>
              </a:defRPr>
            </a:pPr>
            <a:r>
              <a:t>•  Tiết kiệm chính xác 96.3% bộ nhớ RAM.</a:t>
            </a:r>
          </a:p>
          <a:p>
            <a:pPr>
              <a:spcAft>
                <a:spcPts val="500"/>
              </a:spcAft>
              <a:defRPr sz="1100">
                <a:solidFill>
                  <a:srgbClr val="1E293B"/>
                </a:solidFill>
              </a:defRPr>
            </a:pPr>
            <a:r>
              <a:t>•  Một máy chủ phổ thông 32GB RAM có thể lưu trữ hơn 300 triệu khuôn mặt trên chỉ mục IVFPQ!</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E7490"/>
                </a:solidFill>
              </a:defRPr>
            </a:pPr>
            <a:r>
              <a:t>ĐỒ ÁN PHÂN TÍCH DỮ LIỆU LỚN - NHẬN DIỆN KHUÔN MẶT ĐA CAMERA</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defRPr>
            </a:pPr>
            <a:r>
              <a:t>Kịch bản 3: Đánh đổi Pareto giữa Recall và Latency theo nprobe</a:t>
            </a:r>
          </a:p>
        </p:txBody>
      </p:sp>
      <p:pic>
        <p:nvPicPr>
          <p:cNvPr id="4" name="Picture 3" descr="fig5_recall_vs_latency_pareto.png"/>
          <p:cNvPicPr>
            <a:picLocks noChangeAspect="1"/>
          </p:cNvPicPr>
          <p:nvPr/>
        </p:nvPicPr>
        <p:blipFill>
          <a:blip r:embed="rId2"/>
          <a:stretch>
            <a:fillRect/>
          </a:stretch>
        </p:blipFill>
        <p:spPr>
          <a:xfrm>
            <a:off x="731520" y="1554480"/>
            <a:ext cx="6583680" cy="3826813"/>
          </a:xfrm>
          <a:prstGeom prst="rect">
            <a:avLst/>
          </a:prstGeom>
        </p:spPr>
      </p:pic>
      <p:sp>
        <p:nvSpPr>
          <p:cNvPr id="5" name="Rounded Rectangle 4"/>
          <p:cNvSpPr/>
          <p:nvPr/>
        </p:nvSpPr>
        <p:spPr>
          <a:xfrm>
            <a:off x="7589520" y="1554480"/>
            <a:ext cx="38404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E7490"/>
                </a:solidFill>
              </a:defRPr>
            </a:pPr>
            <a:r>
              <a:t>Khảo sát Siêu tham số nprobe</a:t>
            </a:r>
          </a:p>
          <a:p>
            <a:pPr>
              <a:spcAft>
                <a:spcPts val="500"/>
              </a:spcAft>
              <a:defRPr sz="1100">
                <a:solidFill>
                  <a:srgbClr val="1E293B"/>
                </a:solidFill>
              </a:defRPr>
            </a:pPr>
            <a:r>
              <a:t>•  nprobe = 1: Latency cực nhanh (0.08 ms) nhưng Recall@1 chỉ 68.2% (bỏ sót nhiều).</a:t>
            </a:r>
          </a:p>
          <a:p>
            <a:pPr>
              <a:spcAft>
                <a:spcPts val="500"/>
              </a:spcAft>
              <a:defRPr sz="1100">
                <a:solidFill>
                  <a:srgbClr val="1E293B"/>
                </a:solidFill>
              </a:defRPr>
            </a:pPr>
            <a:r>
              <a:t>•  nprobe = 128: Recall@1 đạt 96.1% nhưng Latency tăng lên 1.25 ms.</a:t>
            </a:r>
          </a:p>
          <a:p>
            <a:pPr>
              <a:spcAft>
                <a:spcPts val="500"/>
              </a:spcAft>
              <a:defRPr sz="1100">
                <a:solidFill>
                  <a:srgbClr val="1E293B"/>
                </a:solidFill>
              </a:defRPr>
            </a:pPr>
            <a:r>
              <a:t>•  Vùng Sweet-spot tối ưu: nprobe = 16 – 32.</a:t>
            </a:r>
          </a:p>
          <a:p>
            <a:pPr>
              <a:spcAft>
                <a:spcPts val="500"/>
              </a:spcAft>
              <a:defRPr sz="1100">
                <a:solidFill>
                  <a:srgbClr val="1E293B"/>
                </a:solidFill>
              </a:defRPr>
            </a:pPr>
            <a:r>
              <a:t>•  • Recall@1 đạt 92.8% – 94.5%.</a:t>
            </a:r>
          </a:p>
          <a:p>
            <a:pPr>
              <a:spcAft>
                <a:spcPts val="500"/>
              </a:spcAft>
              <a:defRPr sz="1100">
                <a:solidFill>
                  <a:srgbClr val="1E293B"/>
                </a:solidFill>
              </a:defRPr>
            </a:pPr>
            <a:r>
              <a:t>•  • Recall@10 đạt 98.4% – 99.1%.</a:t>
            </a:r>
          </a:p>
          <a:p>
            <a:pPr>
              <a:spcAft>
                <a:spcPts val="500"/>
              </a:spcAft>
              <a:defRPr sz="1100">
                <a:solidFill>
                  <a:srgbClr val="1E293B"/>
                </a:solidFill>
              </a:defRPr>
            </a:pPr>
            <a:r>
              <a:t>•  • Latency chỉ từ 0.32 – 0.45 ms/truy vấn.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E7490"/>
                </a:solidFill>
              </a:defRPr>
            </a:pPr>
            <a:r>
              <a:t>ĐỒ ÁN PHÂN TÍCH DỮ LIỆU LỚN - NHẬN DIỆN KHUÔN MẶT ĐA CAMERA</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defRPr>
            </a:pPr>
            <a:r>
              <a:t>Kịch bản 4: Hiệu năng Xử lý Luồng Spark khi Tải từ 10 đến 500 Camera</a:t>
            </a:r>
          </a:p>
        </p:txBody>
      </p:sp>
      <p:pic>
        <p:nvPicPr>
          <p:cNvPr id="4" name="Picture 3" descr="fig6_spark_streaming_throughput.png"/>
          <p:cNvPicPr>
            <a:picLocks noChangeAspect="1"/>
          </p:cNvPicPr>
          <p:nvPr/>
        </p:nvPicPr>
        <p:blipFill>
          <a:blip r:embed="rId2"/>
          <a:stretch>
            <a:fillRect/>
          </a:stretch>
        </p:blipFill>
        <p:spPr>
          <a:xfrm>
            <a:off x="731520" y="1554480"/>
            <a:ext cx="6583680" cy="3840480"/>
          </a:xfrm>
          <a:prstGeom prst="rect">
            <a:avLst/>
          </a:prstGeom>
        </p:spPr>
      </p:pic>
      <p:sp>
        <p:nvSpPr>
          <p:cNvPr id="5" name="Rounded Rectangle 4"/>
          <p:cNvSpPr/>
          <p:nvPr/>
        </p:nvSpPr>
        <p:spPr>
          <a:xfrm>
            <a:off x="7589520" y="1554480"/>
            <a:ext cx="38404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E7490"/>
                </a:solidFill>
              </a:defRPr>
            </a:pPr>
            <a:r>
              <a:t>Thông lượng và Độ trễ Đầu-Cuối</a:t>
            </a:r>
          </a:p>
          <a:p>
            <a:pPr>
              <a:spcAft>
                <a:spcPts val="500"/>
              </a:spcAft>
              <a:defRPr sz="1100">
                <a:solidFill>
                  <a:srgbClr val="1E293B"/>
                </a:solidFill>
              </a:defRPr>
            </a:pPr>
            <a:r>
              <a:t>•  Tại 100 Camera (1.000 sự kiện/s): Vi lô xử lý chỉ mất 0.54s, độ trễ P95 là 1.15s, Lag = 0.</a:t>
            </a:r>
          </a:p>
          <a:p>
            <a:pPr>
              <a:spcAft>
                <a:spcPts val="500"/>
              </a:spcAft>
              <a:defRPr sz="1100">
                <a:solidFill>
                  <a:srgbClr val="1E293B"/>
                </a:solidFill>
              </a:defRPr>
            </a:pPr>
            <a:r>
              <a:t>•  Tại 250 Camera (2.500 sự kiện/s): Vi lô 1.12s, độ trễ P95 là 2.10s, Lag = 0.</a:t>
            </a:r>
          </a:p>
          <a:p>
            <a:pPr>
              <a:spcAft>
                <a:spcPts val="500"/>
              </a:spcAft>
              <a:defRPr sz="1100">
                <a:solidFill>
                  <a:srgbClr val="1E293B"/>
                </a:solidFill>
              </a:defRPr>
            </a:pPr>
            <a:r>
              <a:t>•  Tại 500 Camera (5.000 sự kiện/s): Spark xử lý 4.985 sự kiện/s, độ trễ P95 là 3.45s.</a:t>
            </a:r>
          </a:p>
          <a:p>
            <a:pPr>
              <a:spcAft>
                <a:spcPts val="500"/>
              </a:spcAft>
              <a:defRPr sz="1100">
                <a:solidFill>
                  <a:srgbClr val="1E293B"/>
                </a:solidFill>
              </a:defRPr>
            </a:pPr>
            <a:r>
              <a:t>•  Hệ thống vận hành ổn định, không bị nghẽn hàng đợi Kafka.</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E7490"/>
                </a:solidFill>
              </a:defRPr>
            </a:pPr>
            <a:r>
              <a:t>ĐỒ ÁN PHÂN TÍCH DỮ LIỆU LỚN - NHẬN DIỆN KHUÔN MẶT ĐA CAMERA</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defRPr>
            </a:pPr>
            <a:r>
              <a:t>Kịch bản 5: Đánh giá Data Lake Parquet &amp; Truy vết Hành trình</a:t>
            </a:r>
          </a:p>
        </p:txBody>
      </p:sp>
      <p:sp>
        <p:nvSpPr>
          <p:cNvPr id="4" name="Rounded Rectangle 3"/>
          <p:cNvSpPr/>
          <p:nvPr/>
        </p:nvSpPr>
        <p:spPr>
          <a:xfrm>
            <a:off x="7315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E7490"/>
                </a:solidFill>
              </a:defRPr>
            </a:pPr>
            <a:r>
              <a:t>So sánh Apache Parquet vs JSON Lines</a:t>
            </a:r>
          </a:p>
          <a:p>
            <a:pPr>
              <a:spcAft>
                <a:spcPts val="500"/>
              </a:spcAft>
              <a:defRPr sz="1100">
                <a:solidFill>
                  <a:srgbClr val="1E293B"/>
                </a:solidFill>
              </a:defRPr>
            </a:pPr>
            <a:r>
              <a:t>•  Dung lượng đĩa (500.000 sự kiện):</a:t>
            </a:r>
          </a:p>
          <a:p>
            <a:pPr>
              <a:spcAft>
                <a:spcPts val="500"/>
              </a:spcAft>
              <a:defRPr sz="1100">
                <a:solidFill>
                  <a:srgbClr val="1E293B"/>
                </a:solidFill>
              </a:defRPr>
            </a:pPr>
            <a:r>
              <a:t>•  • JSON Lines thô: 68.4 MB.</a:t>
            </a:r>
          </a:p>
          <a:p>
            <a:pPr>
              <a:spcAft>
                <a:spcPts val="500"/>
              </a:spcAft>
              <a:defRPr sz="1100">
                <a:solidFill>
                  <a:srgbClr val="1E293B"/>
                </a:solidFill>
              </a:defRPr>
            </a:pPr>
            <a:r>
              <a:t>•  • Apache Parquet (Snappy): 13.3 MB (giảm 80.5% đĩa!).</a:t>
            </a:r>
          </a:p>
          <a:p>
            <a:pPr>
              <a:spcAft>
                <a:spcPts val="500"/>
              </a:spcAft>
              <a:defRPr sz="1100">
                <a:solidFill>
                  <a:srgbClr val="1E293B"/>
                </a:solidFill>
              </a:defRPr>
            </a:pPr>
            <a:r>
              <a:t>•  Thời gian truy vấn phân tích tổng hợp (OLAP):</a:t>
            </a:r>
          </a:p>
          <a:p>
            <a:pPr>
              <a:spcAft>
                <a:spcPts val="500"/>
              </a:spcAft>
              <a:defRPr sz="1100">
                <a:solidFill>
                  <a:srgbClr val="1E293B"/>
                </a:solidFill>
              </a:defRPr>
            </a:pPr>
            <a:r>
              <a:t>•  • JSON Lines: 0.62 giây.</a:t>
            </a:r>
          </a:p>
          <a:p>
            <a:pPr>
              <a:spcAft>
                <a:spcPts val="500"/>
              </a:spcAft>
              <a:defRPr sz="1100">
                <a:solidFill>
                  <a:srgbClr val="1E293B"/>
                </a:solidFill>
              </a:defRPr>
            </a:pPr>
            <a:r>
              <a:t>•  • Parquet (Columnar Pushdown): 0.08 giây (nhanh gấp 7.8 lần!).</a:t>
            </a:r>
          </a:p>
        </p:txBody>
      </p:sp>
      <p:sp>
        <p:nvSpPr>
          <p:cNvPr id="5" name="Rounded Rectangle 4"/>
          <p:cNvSpPr/>
          <p:nvPr/>
        </p:nvSpPr>
        <p:spPr>
          <a:xfrm>
            <a:off x="62179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E7490"/>
                </a:solidFill>
              </a:defRPr>
            </a:pPr>
            <a:r>
              <a:t>Truy vết Hành trình &amp; Báo động Bất thường</a:t>
            </a:r>
          </a:p>
          <a:p>
            <a:pPr>
              <a:spcAft>
                <a:spcPts val="500"/>
              </a:spcAft>
              <a:defRPr sz="1100">
                <a:solidFill>
                  <a:srgbClr val="1E293B"/>
                </a:solidFill>
              </a:defRPr>
            </a:pPr>
            <a:r>
              <a:t>•  Cross-Camera Trajectory Tracking: Tự động gom chuỗi sự kiện theo person_id và sắp xếp thời gian.</a:t>
            </a:r>
          </a:p>
          <a:p>
            <a:pPr>
              <a:spcAft>
                <a:spcPts val="500"/>
              </a:spcAft>
              <a:defRPr sz="1100">
                <a:solidFill>
                  <a:srgbClr val="1E293B"/>
                </a:solidFill>
              </a:defRPr>
            </a:pPr>
            <a:r>
              <a:t>•  Thuật toán Spatiotemporal Anomaly Detection:</a:t>
            </a:r>
          </a:p>
          <a:p>
            <a:pPr>
              <a:spcAft>
                <a:spcPts val="500"/>
              </a:spcAft>
              <a:defRPr sz="1100">
                <a:solidFill>
                  <a:srgbClr val="1E293B"/>
                </a:solidFill>
              </a:defRPr>
            </a:pPr>
            <a:r>
              <a:t>•  Phát hiện trường hợp 1 đối tượng xuất hiện ở 2 khu vực cách xa nhau trong dưới 2 giây (Spatiotemporal Impossible Jump).</a:t>
            </a:r>
          </a:p>
          <a:p>
            <a:pPr>
              <a:spcAft>
                <a:spcPts val="500"/>
              </a:spcAft>
              <a:defRPr sz="1100">
                <a:solidFill>
                  <a:srgbClr val="1E293B"/>
                </a:solidFill>
              </a:defRPr>
            </a:pPr>
            <a:r>
              <a:t>•  Cảnh báo tức thời nguy cơ gian lận thẻ hoặc giả mạo nhận diện.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E7490"/>
                </a:solidFill>
              </a:defRPr>
            </a:pPr>
            <a:r>
              <a:t>ĐỒ ÁN PHÂN TÍCH DỮ LIỆU LỚN - NHẬN DIỆN KHUÔN MẶT ĐA CAMERA</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defRPr>
            </a:pPr>
            <a:r>
              <a:t>Tổng kết các Đóng góp Khoa học và Thực tiễn của Đồ án</a:t>
            </a:r>
          </a:p>
        </p:txBody>
      </p:sp>
      <p:sp>
        <p:nvSpPr>
          <p:cNvPr id="4" name="Rounded Rectangle 3"/>
          <p:cNvSpPr/>
          <p:nvPr/>
        </p:nvSpPr>
        <p:spPr>
          <a:xfrm>
            <a:off x="7315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E7490"/>
                </a:solidFill>
              </a:defRPr>
            </a:pPr>
            <a:r>
              <a:t>Đóng góp về Khoa học &amp; Phương pháp</a:t>
            </a:r>
          </a:p>
          <a:p>
            <a:pPr>
              <a:spcAft>
                <a:spcPts val="500"/>
              </a:spcAft>
              <a:defRPr sz="1100">
                <a:solidFill>
                  <a:srgbClr val="1E293B"/>
                </a:solidFill>
              </a:defRPr>
            </a:pPr>
            <a:r>
              <a:t>•  Chứng minh chặt chẽ sự tương đương giữa khoảng cách Euclid và Cosine Similarity trên siêu cầu.</a:t>
            </a:r>
          </a:p>
          <a:p>
            <a:pPr>
              <a:spcAft>
                <a:spcPts val="500"/>
              </a:spcAft>
              <a:defRPr sz="1100">
                <a:solidFill>
                  <a:srgbClr val="1E293B"/>
                </a:solidFill>
              </a:defRPr>
            </a:pPr>
            <a:r>
              <a:t>•  Làm chủ cơ chế kết hợp giữa mô hình đặc trưng sâu ArcFace và chỉ mục lượng tử hóa tích IVF-PQ.</a:t>
            </a:r>
          </a:p>
          <a:p>
            <a:pPr>
              <a:spcAft>
                <a:spcPts val="500"/>
              </a:spcAft>
              <a:defRPr sz="1100">
                <a:solidFill>
                  <a:srgbClr val="1E293B"/>
                </a:solidFill>
              </a:defRPr>
            </a:pPr>
            <a:r>
              <a:t>•  Xác lập đường cong Pareto tối ưu siêu tham số nprobe cân bằng hoàn hảo giữa Recall và Latency.</a:t>
            </a:r>
          </a:p>
        </p:txBody>
      </p:sp>
      <p:sp>
        <p:nvSpPr>
          <p:cNvPr id="5" name="Rounded Rectangle 4"/>
          <p:cNvSpPr/>
          <p:nvPr/>
        </p:nvSpPr>
        <p:spPr>
          <a:xfrm>
            <a:off x="62179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E7490"/>
                </a:solidFill>
              </a:defRPr>
            </a:pPr>
            <a:r>
              <a:t>Đóng góp về Thực tiễn &amp; Kỹ thuật</a:t>
            </a:r>
          </a:p>
          <a:p>
            <a:pPr>
              <a:spcAft>
                <a:spcPts val="500"/>
              </a:spcAft>
              <a:defRPr sz="1100">
                <a:solidFill>
                  <a:srgbClr val="1E293B"/>
                </a:solidFill>
              </a:defRPr>
            </a:pPr>
            <a:r>
              <a:t>•  Xây dựng hệ thống giải quyết bài toán tận dụng camera IP RTSP sẵn có, tiết kiệm hàng tỷ đồng phần cứng.</a:t>
            </a:r>
          </a:p>
          <a:p>
            <a:pPr>
              <a:spcAft>
                <a:spcPts val="500"/>
              </a:spcAft>
              <a:defRPr sz="1100">
                <a:solidFill>
                  <a:srgbClr val="1E293B"/>
                </a:solidFill>
              </a:defRPr>
            </a:pPr>
            <a:r>
              <a:t>•  Nén 96% dung lượng RAM, cho phép máy chủ thông thường phục vụ cơ sở dữ liệu hàng triệu người.</a:t>
            </a:r>
          </a:p>
          <a:p>
            <a:pPr>
              <a:spcAft>
                <a:spcPts val="500"/>
              </a:spcAft>
              <a:defRPr sz="1100">
                <a:solidFill>
                  <a:srgbClr val="1E293B"/>
                </a:solidFill>
              </a:defRPr>
            </a:pPr>
            <a:r>
              <a:t>•  Hiện thực hóa pipeline xử lý luồng Spark chịu tải 500 camera với Data Lake Parquet tối ưu.</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E7490"/>
                </a:solidFill>
              </a:defRPr>
            </a:pPr>
            <a:r>
              <a:t>ĐỒ ÁN PHÂN TÍCH DỮ LIỆU LỚN - NHẬN DIỆN KHUÔN MẶT ĐA CAMERA</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defRPr>
            </a:pPr>
            <a:r>
              <a:t>Hạn chế của Hệ thống và Hướng Nghiên cứu Mở rộng</a:t>
            </a:r>
          </a:p>
        </p:txBody>
      </p:sp>
      <p:sp>
        <p:nvSpPr>
          <p:cNvPr id="4" name="Rounded Rectangle 3"/>
          <p:cNvSpPr/>
          <p:nvPr/>
        </p:nvSpPr>
        <p:spPr>
          <a:xfrm>
            <a:off x="7315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E7490"/>
                </a:solidFill>
              </a:defRPr>
            </a:pPr>
            <a:r>
              <a:t>Hạn chế Cần Hoàn thiện</a:t>
            </a:r>
          </a:p>
          <a:p>
            <a:pPr>
              <a:spcAft>
                <a:spcPts val="500"/>
              </a:spcAft>
              <a:defRPr sz="1100">
                <a:solidFill>
                  <a:srgbClr val="1E293B"/>
                </a:solidFill>
              </a:defRPr>
            </a:pPr>
            <a:r>
              <a:t>•  Chưa tích hợp mô hình chống giả mạo khuôn mặt chuyên sâu (Face Anti-Spoofing / Liveness Detection).</a:t>
            </a:r>
          </a:p>
          <a:p>
            <a:pPr>
              <a:spcAft>
                <a:spcPts val="500"/>
              </a:spcAft>
              <a:defRPr sz="1100">
                <a:solidFill>
                  <a:srgbClr val="1E293B"/>
                </a:solidFill>
              </a:defRPr>
            </a:pPr>
            <a:r>
              <a:t>•  Chỉ mục FAISS hiện vận hành trên môi trường đơn node, chưa phân mảnh Sharding qua nhiều máy chủ vật lý.</a:t>
            </a:r>
          </a:p>
          <a:p>
            <a:pPr>
              <a:spcAft>
                <a:spcPts val="500"/>
              </a:spcAft>
              <a:defRPr sz="1100">
                <a:solidFill>
                  <a:srgbClr val="1E293B"/>
                </a:solidFill>
              </a:defRPr>
            </a:pPr>
            <a:r>
              <a:t>•  Chất lượng nhận diện ban đêm còn phụ thuộc vào đèn hồng ngoại của camera IP.</a:t>
            </a:r>
          </a:p>
        </p:txBody>
      </p:sp>
      <p:sp>
        <p:nvSpPr>
          <p:cNvPr id="5" name="Rounded Rectangle 4"/>
          <p:cNvSpPr/>
          <p:nvPr/>
        </p:nvSpPr>
        <p:spPr>
          <a:xfrm>
            <a:off x="62179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0E7490"/>
                </a:solidFill>
              </a:defRPr>
            </a:pPr>
            <a:r>
              <a:t>Định hướng Phát triển Tiếp theo</a:t>
            </a:r>
          </a:p>
          <a:p>
            <a:pPr>
              <a:spcAft>
                <a:spcPts val="500"/>
              </a:spcAft>
              <a:defRPr sz="1100">
                <a:solidFill>
                  <a:srgbClr val="1E293B"/>
                </a:solidFill>
              </a:defRPr>
            </a:pPr>
            <a:r>
              <a:t>•  Tích hợp Silent Liveness Detection phát hiện giả mạo bằng màn hình điện thoại hoặc ảnh in.</a:t>
            </a:r>
          </a:p>
          <a:p>
            <a:pPr>
              <a:spcAft>
                <a:spcPts val="500"/>
              </a:spcAft>
              <a:defRPr sz="1100">
                <a:solidFill>
                  <a:srgbClr val="1E293B"/>
                </a:solidFill>
              </a:defRPr>
            </a:pPr>
            <a:r>
              <a:t>•  Chuyển đổi chỉ mục vector sang cơ sở dữ liệu vector phân tán mã nguồn mở (Milvus hoặc Qdrant) trên Kubernetes.</a:t>
            </a:r>
          </a:p>
          <a:p>
            <a:pPr>
              <a:spcAft>
                <a:spcPts val="500"/>
              </a:spcAft>
              <a:defRPr sz="1100">
                <a:solidFill>
                  <a:srgbClr val="1E293B"/>
                </a:solidFill>
              </a:defRPr>
            </a:pPr>
            <a:r>
              <a:t>•  Tích hợp thuật toán Re-Identification toàn thân (Person Re-ID) khi khuôn mặt bị che khuất.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1645920"/>
            <a:ext cx="10362895" cy="3657600"/>
          </a:xfrm>
          <a:prstGeom prst="rect">
            <a:avLst/>
          </a:prstGeom>
          <a:noFill/>
        </p:spPr>
        <p:txBody>
          <a:bodyPr wrap="square">
            <a:spAutoFit/>
          </a:bodyPr>
          <a:lstStyle/>
          <a:p>
            <a:pPr>
              <a:spcAft>
                <a:spcPts val="2500"/>
              </a:spcAft>
              <a:defRPr sz="2400" b="1">
                <a:solidFill>
                  <a:srgbClr val="FFFFFF"/>
                </a:solidFill>
              </a:defRPr>
            </a:pPr>
            <a:r>
              <a:t>XIN CHÂN THÀNH CẢM ƠN THẦY HÀ MINH TÂN</a:t>
            </a:r>
            <a:br/>
            <a:r>
              <a:t>CÙNG QUÝ THẦY CÔ VÀ CÁC BẠN ĐÃ LẮNG NGHE!</a:t>
            </a:r>
          </a:p>
          <a:p>
            <a:pPr>
              <a:defRPr sz="1600">
                <a:solidFill>
                  <a:srgbClr val="F97316"/>
                </a:solidFill>
              </a:defRPr>
            </a:pPr>
            <a:r>
              <a:t>Nhóm G11 rất mong nhận được những góp ý, nhận xét quý báu từ Thầy và Hội đồng.</a:t>
            </a:r>
            <a:br/>
            <a:br/>
            <a:r>
              <a:t>SẴN SÀNG CHO PHIÊN HỎI ĐÁP (Q&amp;A)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